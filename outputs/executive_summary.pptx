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id="{a76af76b-b562-c63b-0350-c3f8cc8b6fd8}">
          <p14:sldIdLst>
            <p14:sldId id="256"/>
          </p14:sldIdLst>
        </p14:section>
        <p14:section name="Evidence" id="{be559cf7-f05b-1b65-42c2-3c23207ee5f6}">
          <p14:sldIdLst>
            <p14:sldId id="257"/>
            <p14:sldId id="258"/>
            <p14:sldId id="259"/>
          </p14:sldIdLst>
        </p14:section>
        <p14:section name="Recommendations" id="{2b67091c-ca41-6399-7989-7f16b5956fed}">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Default rate by approval year (% of loans charged off)</a:t>
            </a:r>
          </a:p>
        </c:rich>
      </c:tx>
      <c:layout/>
      <c:overlay val="0"/>
    </c:title>
    <c:autoTitleDeleted val="0"/>
    <c:plotArea>
      <c:layout/>
      <c:barChart>
        <c:barDir val="col"/>
        <c:grouping val="clustered"/>
        <c:varyColors val="0"/>
        <c:ser>
          <c:idx val="0"/>
          <c:order val="0"/>
          <c:tx>
            <c:strRef>
              <c:f>Sheet1!$B$1</c:f>
              <c:strCache>
                <c:ptCount val="1"/>
                <c:pt idx="0">
                  <c:v>Default rate (%)</c:v>
                </c:pt>
              </c:strCache>
            </c:strRef>
          </c:tx>
          <c:spPr>
            <a:solidFill>
              <a:srgbClr val="4A6FA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4A6FA5"/>
              </a:solidFill>
              <a:effectLst/>
            </c:spPr>
          </c:dPt>
          <c:dPt>
            <c:idx val="1"/>
            <c:invertIfNegative val="0"/>
            <c:bubble3D val="0"/>
            <c:spPr>
              <a:solidFill>
                <a:srgbClr val="4A6FA5"/>
              </a:solidFill>
              <a:effectLst/>
            </c:spPr>
          </c:dPt>
          <c:dPt>
            <c:idx val="2"/>
            <c:invertIfNegative val="0"/>
            <c:bubble3D val="0"/>
            <c:spPr>
              <a:solidFill>
                <a:srgbClr val="4A6FA5"/>
              </a:solidFill>
              <a:effectLst/>
            </c:spPr>
          </c:dPt>
          <c:dPt>
            <c:idx val="3"/>
            <c:invertIfNegative val="0"/>
            <c:bubble3D val="0"/>
            <c:spPr>
              <a:solidFill>
                <a:srgbClr val="4A6FA5"/>
              </a:solidFill>
              <a:effectLst/>
            </c:spPr>
          </c:dPt>
          <c:dPt>
            <c:idx val="4"/>
            <c:invertIfNegative val="0"/>
            <c:bubble3D val="0"/>
            <c:spPr>
              <a:solidFill>
                <a:srgbClr val="4A6FA5"/>
              </a:solidFill>
              <a:effectLst/>
            </c:spPr>
          </c:dPt>
          <c:dPt>
            <c:idx val="5"/>
            <c:invertIfNegative val="0"/>
            <c:bubble3D val="0"/>
            <c:spPr>
              <a:solidFill>
                <a:srgbClr val="4A6FA5"/>
              </a:solidFill>
              <a:effectLst/>
            </c:spPr>
          </c:dPt>
          <c:dPt>
            <c:idx val="6"/>
            <c:invertIfNegative val="0"/>
            <c:bubble3D val="0"/>
            <c:spPr>
              <a:solidFill>
                <a:srgbClr val="4A6FA5"/>
              </a:solidFill>
              <a:effectLst/>
            </c:spPr>
          </c:dPt>
          <c:dPt>
            <c:idx val="7"/>
            <c:invertIfNegative val="0"/>
            <c:bubble3D val="0"/>
            <c:spPr>
              <a:solidFill>
                <a:srgbClr val="4A6FA5"/>
              </a:solidFill>
              <a:effectLst/>
            </c:spPr>
          </c:dPt>
          <c:dPt>
            <c:idx val="8"/>
            <c:invertIfNegative val="0"/>
            <c:bubble3D val="0"/>
            <c:spPr>
              <a:solidFill>
                <a:srgbClr val="4A6FA5"/>
              </a:solidFill>
              <a:effectLst/>
            </c:spPr>
          </c:dPt>
          <c:dPt>
            <c:idx val="9"/>
            <c:invertIfNegative val="0"/>
            <c:bubble3D val="0"/>
            <c:spPr>
              <a:solidFill>
                <a:srgbClr val="4A6FA5"/>
              </a:solidFill>
              <a:effectLst/>
            </c:spPr>
          </c:dPt>
          <c:dPt>
            <c:idx val="10"/>
            <c:invertIfNegative val="0"/>
            <c:bubble3D val="0"/>
            <c:spPr>
              <a:solidFill>
                <a:srgbClr val="4A6FA5"/>
              </a:solidFill>
              <a:effectLst/>
            </c:spPr>
          </c:dPt>
          <c:dPt>
            <c:idx val="11"/>
            <c:invertIfNegative val="0"/>
            <c:bubble3D val="0"/>
            <c:spPr>
              <a:solidFill>
                <a:srgbClr val="4A6FA5"/>
              </a:solidFill>
              <a:effectLst/>
            </c:spPr>
          </c:dPt>
          <c:dPt>
            <c:idx val="12"/>
            <c:invertIfNegative val="0"/>
            <c:bubble3D val="0"/>
            <c:spPr>
              <a:solidFill>
                <a:srgbClr val="4A6FA5"/>
              </a:solidFill>
              <a:effectLst/>
            </c:spPr>
          </c:dPt>
          <c:dPt>
            <c:idx val="13"/>
            <c:invertIfNegative val="0"/>
            <c:bubble3D val="0"/>
            <c:spPr>
              <a:solidFill>
                <a:srgbClr val="4A6FA5"/>
              </a:solidFill>
              <a:effectLst/>
            </c:spPr>
          </c:dPt>
          <c:dPt>
            <c:idx val="14"/>
            <c:invertIfNegative val="0"/>
            <c:bubble3D val="0"/>
            <c:spPr>
              <a:solidFill>
                <a:srgbClr val="4A6FA5"/>
              </a:solidFill>
              <a:effectLst/>
            </c:spPr>
          </c:dPt>
          <c:dPt>
            <c:idx val="15"/>
            <c:invertIfNegative val="0"/>
            <c:bubble3D val="0"/>
            <c:spPr>
              <a:solidFill>
                <a:srgbClr val="4A6FA5"/>
              </a:solidFill>
              <a:effectLst/>
            </c:spPr>
          </c:dPt>
          <c:dPt>
            <c:idx val="16"/>
            <c:invertIfNegative val="0"/>
            <c:bubble3D val="0"/>
            <c:spPr>
              <a:solidFill>
                <a:srgbClr val="D9622B"/>
              </a:solidFill>
              <a:effectLst/>
            </c:spPr>
          </c:dPt>
          <c:dPt>
            <c:idx val="17"/>
            <c:invertIfNegative val="0"/>
            <c:bubble3D val="0"/>
            <c:spPr>
              <a:solidFill>
                <a:srgbClr val="D9622B"/>
              </a:solidFill>
              <a:effectLst/>
            </c:spPr>
          </c:dPt>
          <c:dPt>
            <c:idx val="18"/>
            <c:invertIfNegative val="0"/>
            <c:bubble3D val="0"/>
            <c:spPr>
              <a:solidFill>
                <a:srgbClr val="D9622B"/>
              </a:solidFill>
              <a:effectLst/>
            </c:spPr>
          </c:dPt>
          <c:dPt>
            <c:idx val="19"/>
            <c:invertIfNegative val="0"/>
            <c:bubble3D val="0"/>
            <c:spPr>
              <a:solidFill>
                <a:srgbClr val="D9622B"/>
              </a:solidFill>
              <a:effectLst/>
            </c:spPr>
          </c:dPt>
          <c:dPt>
            <c:idx val="20"/>
            <c:invertIfNegative val="0"/>
            <c:bubble3D val="0"/>
            <c:spPr>
              <a:solidFill>
                <a:srgbClr val="4A6FA5"/>
              </a:solidFill>
              <a:effectLst/>
            </c:spPr>
          </c:dPt>
          <c:dPt>
            <c:idx val="21"/>
            <c:invertIfNegative val="0"/>
            <c:bubble3D val="0"/>
            <c:spPr>
              <a:solidFill>
                <a:srgbClr val="4A6FA5"/>
              </a:solidFill>
              <a:effectLst/>
            </c:spPr>
          </c:dPt>
          <c:dPt>
            <c:idx val="22"/>
            <c:invertIfNegative val="0"/>
            <c:bubble3D val="0"/>
            <c:spPr>
              <a:solidFill>
                <a:srgbClr val="B9C3D3"/>
              </a:solidFill>
              <a:effectLst/>
            </c:spPr>
          </c:dPt>
          <c:dPt>
            <c:idx val="23"/>
            <c:invertIfNegative val="0"/>
            <c:bubble3D val="0"/>
            <c:spPr>
              <a:solidFill>
                <a:srgbClr val="B9C3D3"/>
              </a:solidFill>
              <a:effectLst/>
            </c:spPr>
          </c:dPt>
          <c:dPt>
            <c:idx val="24"/>
            <c:invertIfNegative val="0"/>
            <c:bubble3D val="0"/>
            <c:spPr>
              <a:solidFill>
                <a:srgbClr val="B9C3D3"/>
              </a:solidFill>
              <a:effectLst/>
            </c:spPr>
          </c:dPt>
          <c:dPt>
            <c:idx val="25"/>
            <c:invertIfNegative val="0"/>
            <c:bubble3D val="0"/>
            <c:spPr>
              <a:solidFill>
                <a:srgbClr val="B9C3D3"/>
              </a:solidFill>
              <a:effectLst/>
            </c:spPr>
          </c:dPt>
          <c:cat>
            <c:multiLvlStrRef>
              <c:f>Sheet1!$A$2:$A$27</c:f>
              <c:multiLvlStrCache>
                <c:ptCount val="26"/>
                <c:lvl>
                  <c:pt idx="0">
                    <c:v>1989</c:v>
                  </c:pt>
                  <c:pt idx="1">
                    <c:v>1990</c:v>
                  </c:pt>
                  <c:pt idx="2">
                    <c:v>1991</c:v>
                  </c:pt>
                  <c:pt idx="3">
                    <c:v>1992</c:v>
                  </c:pt>
                  <c:pt idx="4">
                    <c:v>1993</c:v>
                  </c:pt>
                  <c:pt idx="5">
                    <c:v>1994</c:v>
                  </c:pt>
                  <c:pt idx="6">
                    <c:v>1995</c:v>
                  </c:pt>
                  <c:pt idx="7">
                    <c:v>1996</c:v>
                  </c:pt>
                  <c:pt idx="8">
                    <c:v>1997</c:v>
                  </c:pt>
                  <c:pt idx="9">
                    <c:v>1998</c:v>
                  </c:pt>
                  <c:pt idx="10">
                    <c:v>1999</c:v>
                  </c:pt>
                  <c:pt idx="11">
                    <c:v>2000</c:v>
                  </c:pt>
                  <c:pt idx="12">
                    <c:v>2001</c:v>
                  </c:pt>
                  <c:pt idx="13">
                    <c:v>2002</c:v>
                  </c:pt>
                  <c:pt idx="14">
                    <c:v>2003</c:v>
                  </c:pt>
                  <c:pt idx="15">
                    <c:v>2004</c:v>
                  </c:pt>
                  <c:pt idx="16">
                    <c:v>2005</c:v>
                  </c:pt>
                  <c:pt idx="17">
                    <c:v>2006</c:v>
                  </c:pt>
                  <c:pt idx="18">
                    <c:v>2007</c:v>
                  </c:pt>
                  <c:pt idx="19">
                    <c:v>2008</c:v>
                  </c:pt>
                  <c:pt idx="20">
                    <c:v>2009</c:v>
                  </c:pt>
                  <c:pt idx="21">
                    <c:v>2010</c:v>
                  </c:pt>
                  <c:pt idx="22">
                    <c:v>2011</c:v>
                  </c:pt>
                  <c:pt idx="23">
                    <c:v>2012</c:v>
                  </c:pt>
                  <c:pt idx="24">
                    <c:v>2013</c:v>
                  </c:pt>
                  <c:pt idx="25">
                    <c:v>2014</c:v>
                  </c:pt>
                </c:lvl>
              </c:multiLvlStrCache>
            </c:multiLvlStrRef>
          </c:cat>
          <c:val>
            <c:numRef>
              <c:f>Sheet1!$B$2:$B$27</c:f>
              <c:numCache>
                <c:formatCode>General</c:formatCode>
                <c:ptCount val="26"/>
                <c:pt idx="0">
                  <c:v>6.5</c:v>
                </c:pt>
                <c:pt idx="1">
                  <c:v>4.5</c:v>
                </c:pt>
                <c:pt idx="2">
                  <c:v>2.8</c:v>
                </c:pt>
                <c:pt idx="3">
                  <c:v>2.2</c:v>
                </c:pt>
                <c:pt idx="4">
                  <c:v>1.9</c:v>
                </c:pt>
                <c:pt idx="5">
                  <c:v>2.2</c:v>
                </c:pt>
                <c:pt idx="6">
                  <c:v>2.8</c:v>
                </c:pt>
                <c:pt idx="7">
                  <c:v>4.1</c:v>
                </c:pt>
                <c:pt idx="8">
                  <c:v>6</c:v>
                </c:pt>
                <c:pt idx="9">
                  <c:v>8.2</c:v>
                </c:pt>
                <c:pt idx="10">
                  <c:v>9.9</c:v>
                </c:pt>
                <c:pt idx="11">
                  <c:v>11.4</c:v>
                </c:pt>
                <c:pt idx="12">
                  <c:v>11.9</c:v>
                </c:pt>
                <c:pt idx="13">
                  <c:v>11.7</c:v>
                </c:pt>
                <c:pt idx="14">
                  <c:v>14.5</c:v>
                </c:pt>
                <c:pt idx="15">
                  <c:v>18</c:v>
                </c:pt>
                <c:pt idx="16">
                  <c:v>25.3</c:v>
                </c:pt>
                <c:pt idx="17">
                  <c:v>35</c:v>
                </c:pt>
                <c:pt idx="18">
                  <c:v>42.8</c:v>
                </c:pt>
                <c:pt idx="19">
                  <c:v>41.2</c:v>
                </c:pt>
                <c:pt idx="20">
                  <c:v>20.8</c:v>
                </c:pt>
                <c:pt idx="21">
                  <c:v>13.7</c:v>
                </c:pt>
                <c:pt idx="22">
                  <c:v>7.9</c:v>
                </c:pt>
                <c:pt idx="23">
                  <c:v>5.7</c:v>
                </c:pt>
                <c:pt idx="24">
                  <c:v>2.9</c:v>
                </c:pt>
                <c:pt idx="25">
                  <c:v>1.9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A7383"/>
                </a:solidFill>
                <a:latin typeface="+mn-lt"/>
              </a:defRPr>
            </a:pPr>
            <a:endParaRPr lang="en-US"/>
          </a:p>
        </c:txPr>
        <c:crossAx val="2094734552"/>
        <c:crosses val="autoZero"/>
        <c:auto val="1"/>
        <c:lblAlgn val="ctr"/>
        <c:noMultiLvlLbl val="1"/>
        <c:tickLblSkip val="5"/>
      </c:catAx>
      <c:valAx>
        <c:axId val="2094734552"/>
        <c:scaling>
          <c:orientation val="minMax"/>
          <c:max val="45"/>
          <c:min val="0"/>
        </c:scaling>
        <c:delete val="0"/>
        <c:axPos val="l"/>
        <c:majorGridlines>
          <c:spPr>
            <a:ln w="9525" cap="flat">
              <a:solidFill>
                <a:srgbClr val="D8D6CF"/>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6A7383"/>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 one-page view of where this small-business loan portfolio’s risk came from, and what a credit team should do about it. Three headlines. First, timing: loans made at the top of the boom, 2005 to 2008, were 21% of the money lent but caused 54% of all losses. Second, concentration: three groups are over their example limits, California, Retail, and Accommodation and Food. Third, early warning: watching how fast new loans fail in their first two years would have flagged the 2010 loss peak three years in advance, two years before unemployment did. The next slides show the evidence, and the last slide has five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is one year’s loans. The orange bars, 2005 to 2008, are the loans made at the top of the boom; they then had to be repaid through the 2008–2009 recession. 2007 loans defaulted at 42.8%, 3.7 times the 11.4% rate of 2000 loans. Together 2005–2008 loans were 21% of the dollars lent but caused 54% of the 11.4 billion dollars lost. The pale bars on the right look safe only because those loans were young when the data was collected in 2014: loans here take about 8 years to show most of their defaults. Compared at the same age, 2011 loans were already about 5 times worse than 2002 loans.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Concentration means too much of the money in one place. Using example limits of 15% per industry and 10% per state, with tighter limits for riskier groups, three groups are over their limit. California holds 19.9% of the dollars, about twice its 10% limit, although its loans lost slightly less than their size suggests. Retail and Accommodation and Food are each just over 15%, and together they hold a third of the portfolio; both depend on consumer spending, so one downturn hits them together. The risk hot spots are smaller groups that lose more than their size: Florida lost 8.8% of the money while holding 5.5%. Small loans are the clearest risk factor of all: under 50 thousand dollars, they default 3.2 times as often as loans of a million dollars or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Could we have seen the 2010 loss peak coming? Yes. The portfolio signal is simple: how fast each new year of loans fails in its first two years, compared with the calm 2001–2003 loans. You only have to wait two years to see it, instead of the eight a vintage takes to show its full result. It turned Amber in 2006 and Red in 2007, three years before charge-offs peaked at 9.34% in 2010. The economy signal, the rise in unemployment, only turned Red in 2009. Unemployment confirmed the downturn rather than predicting it. On the right, a like-for-like peer comparison: KeyBank had 29% fewer defaults than all lenders together achieved on the same kind of loans, mostly in its small-business loans under 50 thousand dollars; this is far too big a gap to be luck. Caveat: the thresholds were chosen looking at this history, so they would need testing on other periods.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actions follow from the analysis. One: add the two-year early-default signal to regular reporting, because it gave three years’ warning. Two: treat Retail and Accommodation and Food as one consumer-spending concentration, since together they hold a third of the dollars and a downturn hits both. Three: plan a gradual reduction in California, which is twice its example limit and deteriorated faster in the boom than Texas, the other state large enough to compare. Four: price and underwrite small loans and the hot spots, Florida, Georgia and Construction, for the extra risk they carry. Five: compare lenders like for like, because raw default rates rank them wrongly. Limitations to state openly: the data ends in 2014, and the limits and signal thresholds are example settings chosen while looking at this history, so they would need testing before real use. The full analysis, code and dashboard are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213D"/>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6B8"/>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BFA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12648" y="457200"/>
            <a:ext cx="10966399" cy="82296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38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6B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12648" y="640080"/>
            <a:ext cx="10966399" cy="320040"/>
          </a:xfrm>
          <a:prstGeom prst="rect">
            <a:avLst/>
          </a:prstGeom>
          <a:noFill/>
          <a:ln/>
        </p:spPr>
        <p:txBody>
          <a:bodyPr wrap="square" lIns="0" tIns="0" rIns="0" bIns="0" rtlCol="0" anchor="t"/>
          <a:lstStyle/>
          <a:p>
            <a:pPr indent="0" marL="0">
              <a:buNone/>
            </a:pPr>
            <a:r>
              <a:rPr lang="en-US" sz="1300" b="1" spc="200" kern="0" dirty="0">
                <a:solidFill>
                  <a:schemeClr val="accent6"/>
                </a:solidFill>
                <a:latin typeface="Calibri" pitchFamily="34" charset="0"/>
                <a:ea typeface="Calibri" pitchFamily="34" charset="-122"/>
                <a:cs typeface="Calibri" pitchFamily="34" charset="-120"/>
              </a:rPr>
              <a:t>CREDIT PORTFOLIO REVIEW · EXECUTIVE SUMMARY</a:t>
            </a:r>
            <a:endParaRPr lang="en-US" sz="1300" dirty="0"/>
          </a:p>
        </p:txBody>
      </p:sp>
      <p:sp>
        <p:nvSpPr>
          <p:cNvPr id="3" name="Text 1"/>
          <p:cNvSpPr txBox="1"/>
          <p:nvPr/>
        </p:nvSpPr>
        <p:spPr>
          <a:xfrm>
            <a:off x="612648" y="1051560"/>
            <a:ext cx="10966399" cy="1554480"/>
          </a:xfrm>
          <a:prstGeom prst="rect">
            <a:avLst/>
          </a:prstGeom>
          <a:noFill/>
          <a:ln/>
        </p:spPr>
        <p:txBody>
          <a:bodyPr wrap="square" lIns="0" tIns="0" rIns="0" bIns="0" rtlCol="0" anchor="t"/>
          <a:lstStyle/>
          <a:p>
            <a:pPr indent="0" marL="0">
              <a:buNone/>
            </a:pPr>
            <a:r>
              <a:rPr lang="en-US" sz="4200" b="1" dirty="0">
                <a:solidFill>
                  <a:srgbClr val="F4F1EA"/>
                </a:solidFill>
                <a:latin typeface="Cambria" pitchFamily="34" charset="0"/>
                <a:ea typeface="Cambria" pitchFamily="34" charset="-122"/>
                <a:cs typeface="Cambria" pitchFamily="34" charset="-120"/>
              </a:rPr>
              <a:t>SBA 7(a) small-business loans, 1989–2014: where the risk was</a:t>
            </a:r>
            <a:endParaRPr lang="en-US" sz="4200" dirty="0"/>
          </a:p>
        </p:txBody>
      </p:sp>
      <p:sp>
        <p:nvSpPr>
          <p:cNvPr id="4" name="Text 2"/>
          <p:cNvSpPr txBox="1"/>
          <p:nvPr/>
        </p:nvSpPr>
        <p:spPr>
          <a:xfrm>
            <a:off x="612648" y="2743200"/>
            <a:ext cx="10966399" cy="411480"/>
          </a:xfrm>
          <a:prstGeom prst="rect">
            <a:avLst/>
          </a:prstGeom>
          <a:noFill/>
          <a:ln/>
        </p:spPr>
        <p:txBody>
          <a:bodyPr wrap="square" lIns="0" tIns="0" rIns="0" bIns="0" rtlCol="0" anchor="t"/>
          <a:lstStyle/>
          <a:p>
            <a:pPr indent="0" marL="0">
              <a:buNone/>
            </a:pPr>
            <a:r>
              <a:rPr lang="en-US" sz="1800" dirty="0">
                <a:solidFill>
                  <a:srgbClr val="C9D1DE"/>
                </a:solidFill>
                <a:latin typeface="Calibri" pitchFamily="34" charset="0"/>
                <a:ea typeface="Calibri" pitchFamily="34" charset="-122"/>
                <a:cs typeface="Calibri" pitchFamily="34" charset="-120"/>
              </a:rPr>
              <a:t>882,533 loans · $170.2B approved · $11.4B lost</a:t>
            </a:r>
            <a:endParaRPr lang="en-US" sz="1800" dirty="0"/>
          </a:p>
        </p:txBody>
      </p:sp>
      <p:sp>
        <p:nvSpPr>
          <p:cNvPr id="5" name="Stat card 1"/>
          <p:cNvSpPr/>
          <p:nvPr/>
        </p:nvSpPr>
        <p:spPr>
          <a:xfrm>
            <a:off x="612648" y="3520440"/>
            <a:ext cx="3454298" cy="2331720"/>
          </a:xfrm>
          <a:prstGeom prst="roundRect">
            <a:avLst>
              <a:gd name="adj" fmla="val 3137"/>
            </a:avLst>
          </a:prstGeom>
          <a:solidFill>
            <a:srgbClr val="1E2D4D"/>
          </a:solidFill>
          <a:ln/>
        </p:spPr>
      </p:sp>
      <p:sp>
        <p:nvSpPr>
          <p:cNvPr id="6" name="Text 4"/>
          <p:cNvSpPr txBox="1"/>
          <p:nvPr/>
        </p:nvSpPr>
        <p:spPr>
          <a:xfrm>
            <a:off x="886968" y="3749040"/>
            <a:ext cx="2905658" cy="822960"/>
          </a:xfrm>
          <a:prstGeom prst="rect">
            <a:avLst/>
          </a:prstGeom>
          <a:noFill/>
          <a:ln/>
        </p:spPr>
        <p:txBody>
          <a:bodyPr wrap="square" lIns="0" tIns="0" rIns="0" bIns="0" rtlCol="0" anchor="t"/>
          <a:lstStyle/>
          <a:p>
            <a:pPr indent="0" marL="0">
              <a:buNone/>
            </a:pPr>
            <a:r>
              <a:rPr lang="en-US" sz="4400" b="1" dirty="0">
                <a:solidFill>
                  <a:schemeClr val="accent6"/>
                </a:solidFill>
                <a:latin typeface="Cambria" pitchFamily="34" charset="0"/>
                <a:ea typeface="Cambria" pitchFamily="34" charset="-122"/>
                <a:cs typeface="Cambria" pitchFamily="34" charset="-120"/>
              </a:rPr>
              <a:t>54%</a:t>
            </a:r>
            <a:endParaRPr lang="en-US" sz="4400" dirty="0"/>
          </a:p>
        </p:txBody>
      </p:sp>
      <p:sp>
        <p:nvSpPr>
          <p:cNvPr id="7" name="Text 5"/>
          <p:cNvSpPr txBox="1"/>
          <p:nvPr/>
        </p:nvSpPr>
        <p:spPr>
          <a:xfrm>
            <a:off x="886968" y="4617720"/>
            <a:ext cx="2905658" cy="1097280"/>
          </a:xfrm>
          <a:prstGeom prst="rect">
            <a:avLst/>
          </a:prstGeom>
          <a:noFill/>
          <a:ln/>
        </p:spPr>
        <p:txBody>
          <a:bodyPr wrap="square" lIns="0" tIns="0" rIns="0" bIns="0" rtlCol="0" anchor="t"/>
          <a:lstStyle/>
          <a:p>
            <a:pPr indent="0" marL="0">
              <a:buNone/>
            </a:pPr>
            <a:r>
              <a:rPr lang="en-US" sz="1400" dirty="0">
                <a:solidFill>
                  <a:srgbClr val="C9D1DE"/>
                </a:solidFill>
                <a:latin typeface="Calibri" pitchFamily="34" charset="0"/>
                <a:ea typeface="Calibri" pitchFamily="34" charset="-122"/>
                <a:cs typeface="Calibri" pitchFamily="34" charset="-120"/>
              </a:rPr>
              <a:t>of all losses came from loans approved in 2005–2008, which were only 21% of dollars lent</a:t>
            </a:r>
            <a:endParaRPr lang="en-US" sz="1400" dirty="0"/>
          </a:p>
        </p:txBody>
      </p:sp>
      <p:sp>
        <p:nvSpPr>
          <p:cNvPr id="8" name="Stat card 2"/>
          <p:cNvSpPr/>
          <p:nvPr/>
        </p:nvSpPr>
        <p:spPr>
          <a:xfrm>
            <a:off x="4368698" y="3520440"/>
            <a:ext cx="3454298" cy="2331720"/>
          </a:xfrm>
          <a:prstGeom prst="roundRect">
            <a:avLst>
              <a:gd name="adj" fmla="val 3137"/>
            </a:avLst>
          </a:prstGeom>
          <a:solidFill>
            <a:srgbClr val="1E2D4D"/>
          </a:solidFill>
          <a:ln/>
        </p:spPr>
      </p:sp>
      <p:sp>
        <p:nvSpPr>
          <p:cNvPr id="9" name="Text 7"/>
          <p:cNvSpPr txBox="1"/>
          <p:nvPr/>
        </p:nvSpPr>
        <p:spPr>
          <a:xfrm>
            <a:off x="4643018" y="3749040"/>
            <a:ext cx="2905658" cy="822960"/>
          </a:xfrm>
          <a:prstGeom prst="rect">
            <a:avLst/>
          </a:prstGeom>
          <a:noFill/>
          <a:ln/>
        </p:spPr>
        <p:txBody>
          <a:bodyPr wrap="square" lIns="0" tIns="0" rIns="0" bIns="0" rtlCol="0" anchor="t"/>
          <a:lstStyle/>
          <a:p>
            <a:pPr indent="0" marL="0">
              <a:buNone/>
            </a:pPr>
            <a:r>
              <a:rPr lang="en-US" sz="4400" b="1" dirty="0">
                <a:solidFill>
                  <a:schemeClr val="accent6"/>
                </a:solidFill>
                <a:latin typeface="Cambria" pitchFamily="34" charset="0"/>
                <a:ea typeface="Cambria" pitchFamily="34" charset="-122"/>
                <a:cs typeface="Cambria" pitchFamily="34" charset="-120"/>
              </a:rPr>
              <a:t>3</a:t>
            </a:r>
            <a:endParaRPr lang="en-US" sz="4400" dirty="0"/>
          </a:p>
        </p:txBody>
      </p:sp>
      <p:sp>
        <p:nvSpPr>
          <p:cNvPr id="10" name="Text 8"/>
          <p:cNvSpPr txBox="1"/>
          <p:nvPr/>
        </p:nvSpPr>
        <p:spPr>
          <a:xfrm>
            <a:off x="4643018" y="4617720"/>
            <a:ext cx="2905658" cy="1097280"/>
          </a:xfrm>
          <a:prstGeom prst="rect">
            <a:avLst/>
          </a:prstGeom>
          <a:noFill/>
          <a:ln/>
        </p:spPr>
        <p:txBody>
          <a:bodyPr wrap="square" lIns="0" tIns="0" rIns="0" bIns="0" rtlCol="0" anchor="t"/>
          <a:lstStyle/>
          <a:p>
            <a:pPr indent="0" marL="0">
              <a:buNone/>
            </a:pPr>
            <a:r>
              <a:rPr lang="en-US" sz="1400" dirty="0">
                <a:solidFill>
                  <a:srgbClr val="C9D1DE"/>
                </a:solidFill>
                <a:latin typeface="Calibri" pitchFamily="34" charset="0"/>
                <a:ea typeface="Calibri" pitchFamily="34" charset="-122"/>
                <a:cs typeface="Calibri" pitchFamily="34" charset="-120"/>
              </a:rPr>
              <a:t>concentration limits breached: California, Retail Trade, and Accommodation &amp; Food</a:t>
            </a:r>
            <a:endParaRPr lang="en-US" sz="1400" dirty="0"/>
          </a:p>
        </p:txBody>
      </p:sp>
      <p:sp>
        <p:nvSpPr>
          <p:cNvPr id="11" name="Stat card 3"/>
          <p:cNvSpPr/>
          <p:nvPr/>
        </p:nvSpPr>
        <p:spPr>
          <a:xfrm>
            <a:off x="8124749" y="3520440"/>
            <a:ext cx="3454298" cy="2331720"/>
          </a:xfrm>
          <a:prstGeom prst="roundRect">
            <a:avLst>
              <a:gd name="adj" fmla="val 3137"/>
            </a:avLst>
          </a:prstGeom>
          <a:solidFill>
            <a:srgbClr val="1E2D4D"/>
          </a:solidFill>
          <a:ln/>
        </p:spPr>
      </p:sp>
      <p:sp>
        <p:nvSpPr>
          <p:cNvPr id="12" name="Text 10"/>
          <p:cNvSpPr txBox="1"/>
          <p:nvPr/>
        </p:nvSpPr>
        <p:spPr>
          <a:xfrm>
            <a:off x="8399069" y="3749040"/>
            <a:ext cx="2905658" cy="822960"/>
          </a:xfrm>
          <a:prstGeom prst="rect">
            <a:avLst/>
          </a:prstGeom>
          <a:noFill/>
          <a:ln/>
        </p:spPr>
        <p:txBody>
          <a:bodyPr wrap="square" lIns="0" tIns="0" rIns="0" bIns="0" rtlCol="0" anchor="t"/>
          <a:lstStyle/>
          <a:p>
            <a:pPr indent="0" marL="0">
              <a:buNone/>
            </a:pPr>
            <a:r>
              <a:rPr lang="en-US" sz="4400" b="1" dirty="0">
                <a:solidFill>
                  <a:schemeClr val="accent6"/>
                </a:solidFill>
                <a:latin typeface="Cambria" pitchFamily="34" charset="0"/>
                <a:ea typeface="Cambria" pitchFamily="34" charset="-122"/>
                <a:cs typeface="Cambria" pitchFamily="34" charset="-120"/>
              </a:rPr>
              <a:t>3 years</a:t>
            </a:r>
            <a:endParaRPr lang="en-US" sz="4400" dirty="0"/>
          </a:p>
        </p:txBody>
      </p:sp>
      <p:sp>
        <p:nvSpPr>
          <p:cNvPr id="13" name="Text 11"/>
          <p:cNvSpPr txBox="1"/>
          <p:nvPr/>
        </p:nvSpPr>
        <p:spPr>
          <a:xfrm>
            <a:off x="8399069" y="4617720"/>
            <a:ext cx="2905658" cy="1097280"/>
          </a:xfrm>
          <a:prstGeom prst="rect">
            <a:avLst/>
          </a:prstGeom>
          <a:noFill/>
          <a:ln/>
        </p:spPr>
        <p:txBody>
          <a:bodyPr wrap="square" lIns="0" tIns="0" rIns="0" bIns="0" rtlCol="0" anchor="t"/>
          <a:lstStyle/>
          <a:p>
            <a:pPr indent="0" marL="0">
              <a:buNone/>
            </a:pPr>
            <a:r>
              <a:rPr lang="en-US" sz="1400" dirty="0">
                <a:solidFill>
                  <a:srgbClr val="C9D1DE"/>
                </a:solidFill>
                <a:latin typeface="Calibri" pitchFamily="34" charset="0"/>
                <a:ea typeface="Calibri" pitchFamily="34" charset="-122"/>
                <a:cs typeface="Calibri" pitchFamily="34" charset="-120"/>
              </a:rPr>
              <a:t>of warning: the portfolio’s own early-default signal turned red in 2007, before the 2010 loss peak</a:t>
            </a:r>
            <a:endParaRPr lang="en-US" sz="1400" dirty="0"/>
          </a:p>
        </p:txBody>
      </p:sp>
      <p:sp>
        <p:nvSpPr>
          <p:cNvPr id="14" name="Source"/>
          <p:cNvSpPr txBox="1"/>
          <p:nvPr/>
        </p:nvSpPr>
        <p:spPr>
          <a:xfrm>
            <a:off x="612648" y="6263640"/>
            <a:ext cx="10424160" cy="320040"/>
          </a:xfrm>
          <a:prstGeom prst="rect">
            <a:avLst/>
          </a:prstGeom>
          <a:noFill/>
          <a:ln/>
        </p:spPr>
        <p:txBody>
          <a:bodyPr wrap="square" lIns="0" tIns="0" rIns="0" bIns="0" rtlCol="0" anchor="t"/>
          <a:lstStyle/>
          <a:p>
            <a:pPr indent="0" marL="0">
              <a:buNone/>
            </a:pPr>
            <a:r>
              <a:rPr lang="en-US" sz="1100" dirty="0">
                <a:solidFill>
                  <a:srgbClr val="9AA6B8"/>
                </a:solidFill>
                <a:latin typeface="Calibri" pitchFamily="34" charset="0"/>
                <a:ea typeface="Calibri" pitchFamily="34" charset="-122"/>
                <a:cs typeface="Calibri" pitchFamily="34" charset="-120"/>
              </a:rPr>
              <a:t>Bernard Frimpong · Source: U.S. SBA 7(a) loan data (via Kaggle), loans approved 1989–2014</a:t>
            </a:r>
            <a:endParaRPr lang="en-US" sz="11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6B8"/>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12648" y="457200"/>
            <a:ext cx="10966399" cy="82296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Losses came from loans made at the top of the boom</a:t>
            </a:r>
            <a:endParaRPr lang="en-US" sz="3200" dirty="0"/>
          </a:p>
        </p:txBody>
      </p:sp>
      <p:graphicFrame>
        <p:nvGraphicFramePr>
          <p:cNvPr id="3" name="Default rate chart" descr=""/>
          <p:cNvGraphicFramePr/>
          <p:nvPr/>
        </p:nvGraphicFramePr>
        <p:xfrm>
          <a:off x="612648" y="1417320"/>
          <a:ext cx="7223760" cy="4663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183880" y="1554480"/>
            <a:ext cx="3395167" cy="457200"/>
          </a:xfrm>
          <a:prstGeom prst="rect">
            <a:avLst/>
          </a:prstGeom>
          <a:noFill/>
          <a:ln/>
        </p:spPr>
        <p:txBody>
          <a:bodyPr wrap="square" lIns="0" tIns="0" rIns="0" bIns="0" rtlCol="0" anchor="t"/>
          <a:lstStyle/>
          <a:p>
            <a:pPr indent="0" marL="0">
              <a:buNone/>
            </a:pPr>
            <a:r>
              <a:rPr lang="en-US" sz="2600" b="1" dirty="0">
                <a:solidFill>
                  <a:schemeClr val="accent3"/>
                </a:solidFill>
                <a:latin typeface="Cambria" pitchFamily="34" charset="0"/>
                <a:ea typeface="Cambria" pitchFamily="34" charset="-122"/>
                <a:cs typeface="Cambria" pitchFamily="34" charset="-120"/>
              </a:rPr>
              <a:t>54% of losses</a:t>
            </a:r>
            <a:endParaRPr lang="en-US" sz="2600" dirty="0"/>
          </a:p>
        </p:txBody>
      </p:sp>
      <p:sp>
        <p:nvSpPr>
          <p:cNvPr id="5" name="Text 2"/>
          <p:cNvSpPr txBox="1"/>
          <p:nvPr/>
        </p:nvSpPr>
        <p:spPr>
          <a:xfrm>
            <a:off x="8183880" y="2011680"/>
            <a:ext cx="3395167"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came from 2005–2008 loans, which were only 21% of dollars lent</a:t>
            </a:r>
            <a:endParaRPr lang="en-US" sz="1400" dirty="0"/>
          </a:p>
        </p:txBody>
      </p:sp>
      <p:sp>
        <p:nvSpPr>
          <p:cNvPr id="6" name="Text 3"/>
          <p:cNvSpPr txBox="1"/>
          <p:nvPr/>
        </p:nvSpPr>
        <p:spPr>
          <a:xfrm>
            <a:off x="8183880" y="2788920"/>
            <a:ext cx="3395167" cy="457200"/>
          </a:xfrm>
          <a:prstGeom prst="rect">
            <a:avLst/>
          </a:prstGeom>
          <a:noFill/>
          <a:ln/>
        </p:spPr>
        <p:txBody>
          <a:bodyPr wrap="square" lIns="0" tIns="0" rIns="0" bIns="0" rtlCol="0" anchor="t"/>
          <a:lstStyle/>
          <a:p>
            <a:pPr indent="0" marL="0">
              <a:buNone/>
            </a:pPr>
            <a:r>
              <a:rPr lang="en-US" sz="2600" b="1" dirty="0">
                <a:solidFill>
                  <a:schemeClr val="tx2"/>
                </a:solidFill>
                <a:latin typeface="Cambria" pitchFamily="34" charset="0"/>
                <a:ea typeface="Cambria" pitchFamily="34" charset="-122"/>
                <a:cs typeface="Cambria" pitchFamily="34" charset="-120"/>
              </a:rPr>
              <a:t>3.7× worse</a:t>
            </a:r>
            <a:endParaRPr lang="en-US" sz="2600" dirty="0"/>
          </a:p>
        </p:txBody>
      </p:sp>
      <p:sp>
        <p:nvSpPr>
          <p:cNvPr id="7" name="Text 4"/>
          <p:cNvSpPr txBox="1"/>
          <p:nvPr/>
        </p:nvSpPr>
        <p:spPr>
          <a:xfrm>
            <a:off x="8183880" y="3246120"/>
            <a:ext cx="3395167"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2007 loans defaulted at 42.8%, against 11.4% for 2000 loans</a:t>
            </a:r>
            <a:endParaRPr lang="en-US" sz="1400" dirty="0"/>
          </a:p>
        </p:txBody>
      </p:sp>
      <p:sp>
        <p:nvSpPr>
          <p:cNvPr id="8" name="Text 5"/>
          <p:cNvSpPr txBox="1"/>
          <p:nvPr/>
        </p:nvSpPr>
        <p:spPr>
          <a:xfrm>
            <a:off x="8183880" y="4023360"/>
            <a:ext cx="3395167" cy="457200"/>
          </a:xfrm>
          <a:prstGeom prst="rect">
            <a:avLst/>
          </a:prstGeom>
          <a:noFill/>
          <a:ln/>
        </p:spPr>
        <p:txBody>
          <a:bodyPr wrap="square" lIns="0" tIns="0" rIns="0" bIns="0" rtlCol="0" anchor="t"/>
          <a:lstStyle/>
          <a:p>
            <a:pPr indent="0" marL="0">
              <a:buNone/>
            </a:pPr>
            <a:r>
              <a:rPr lang="en-US" sz="2600" b="1" dirty="0">
                <a:solidFill>
                  <a:schemeClr val="tx2"/>
                </a:solidFill>
                <a:latin typeface="Cambria" pitchFamily="34" charset="0"/>
                <a:ea typeface="Cambria" pitchFamily="34" charset="-122"/>
                <a:cs typeface="Cambria" pitchFamily="34" charset="-120"/>
              </a:rPr>
              <a:t>8 years</a:t>
            </a:r>
            <a:endParaRPr lang="en-US" sz="2600" dirty="0"/>
          </a:p>
        </p:txBody>
      </p:sp>
      <p:sp>
        <p:nvSpPr>
          <p:cNvPr id="9" name="Text 6"/>
          <p:cNvSpPr txBox="1"/>
          <p:nvPr/>
        </p:nvSpPr>
        <p:spPr>
          <a:xfrm>
            <a:off x="8183880" y="4480560"/>
            <a:ext cx="3395167"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for a vintage to show its result, so 2011–2014 loans are too young to judge</a:t>
            </a:r>
            <a:endParaRPr lang="en-US" sz="1400" dirty="0"/>
          </a:p>
        </p:txBody>
      </p:sp>
      <p:sp>
        <p:nvSpPr>
          <p:cNvPr id="10" name="Legend swatch"/>
          <p:cNvSpPr/>
          <p:nvPr/>
        </p:nvSpPr>
        <p:spPr>
          <a:xfrm>
            <a:off x="8183880" y="5385816"/>
            <a:ext cx="182880" cy="182880"/>
          </a:xfrm>
          <a:prstGeom prst="roundRect">
            <a:avLst>
              <a:gd name="adj" fmla="val 15000"/>
            </a:avLst>
          </a:prstGeom>
          <a:solidFill>
            <a:srgbClr val="D9622B"/>
          </a:solidFill>
          <a:ln/>
        </p:spPr>
      </p:sp>
      <p:sp>
        <p:nvSpPr>
          <p:cNvPr id="11" name="Text 8"/>
          <p:cNvSpPr txBox="1"/>
          <p:nvPr/>
        </p:nvSpPr>
        <p:spPr>
          <a:xfrm>
            <a:off x="8476488" y="5349240"/>
            <a:ext cx="3102559" cy="2743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2005–2008: boom, then crisis</a:t>
            </a:r>
            <a:endParaRPr lang="en-US" sz="1300" dirty="0"/>
          </a:p>
        </p:txBody>
      </p:sp>
      <p:sp>
        <p:nvSpPr>
          <p:cNvPr id="12" name="Legend swatch"/>
          <p:cNvSpPr/>
          <p:nvPr/>
        </p:nvSpPr>
        <p:spPr>
          <a:xfrm>
            <a:off x="8183880" y="5733288"/>
            <a:ext cx="182880" cy="182880"/>
          </a:xfrm>
          <a:prstGeom prst="roundRect">
            <a:avLst>
              <a:gd name="adj" fmla="val 15000"/>
            </a:avLst>
          </a:prstGeom>
          <a:solidFill>
            <a:srgbClr val="B9C3D3"/>
          </a:solidFill>
          <a:ln/>
        </p:spPr>
      </p:sp>
      <p:sp>
        <p:nvSpPr>
          <p:cNvPr id="13" name="Text 10"/>
          <p:cNvSpPr txBox="1"/>
          <p:nvPr/>
        </p:nvSpPr>
        <p:spPr>
          <a:xfrm>
            <a:off x="8476488" y="5696712"/>
            <a:ext cx="3102559" cy="2743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2011–2014: too young to judge</a:t>
            </a:r>
            <a:endParaRPr lang="en-US" sz="1300" dirty="0"/>
          </a:p>
        </p:txBody>
      </p:sp>
      <p:sp>
        <p:nvSpPr>
          <p:cNvPr id="14" name="Source"/>
          <p:cNvSpPr txBox="1"/>
          <p:nvPr/>
        </p:nvSpPr>
        <p:spPr>
          <a:xfrm>
            <a:off x="612648" y="6263640"/>
            <a:ext cx="10424160" cy="320040"/>
          </a:xfrm>
          <a:prstGeom prst="rect">
            <a:avLst/>
          </a:prstGeom>
          <a:noFill/>
          <a:ln/>
        </p:spPr>
        <p:txBody>
          <a:bodyPr wrap="square" lIns="0" tIns="0" rIns="0" bIns="0" rtlCol="0" anchor="t"/>
          <a:lstStyle/>
          <a:p>
            <a:pPr indent="0" marL="0">
              <a:buNone/>
            </a:pPr>
            <a:r>
              <a:rPr lang="en-US" sz="1100" dirty="0">
                <a:solidFill>
                  <a:srgbClr val="6A7383"/>
                </a:solidFill>
                <a:latin typeface="Calibri" pitchFamily="34" charset="0"/>
                <a:ea typeface="Calibri" pitchFamily="34" charset="-122"/>
                <a:cs typeface="Calibri" pitchFamily="34" charset="-120"/>
              </a:rPr>
              <a:t>Default rate = % of loans charged off, by approval year (vintage). 882,533 loans, SBA 7(a), 1989–2014.</a:t>
            </a:r>
            <a:endParaRPr lang="en-US" sz="11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38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12648" y="457200"/>
            <a:ext cx="10966399" cy="82296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Three concentrations are over their limits</a:t>
            </a:r>
            <a:endParaRPr lang="en-US" sz="3200" dirty="0"/>
          </a:p>
        </p:txBody>
      </p:sp>
      <p:graphicFrame>
        <p:nvGraphicFramePr>
          <p:cNvPr id="4" name="Limit table"/>
          <p:cNvGraphicFramePr>
            <a:graphicFrameLocks noGrp="1"/>
          </p:cNvGraphicFramePr>
          <p:nvPr>
            <p:extLst>
              <p:ext uri="{D42A27DB-BD31-4B8C-83A1-F6EECF244321}">
                <p14:modId xmlns:p14="http://schemas.microsoft.com/office/powerpoint/2010/main" val="1579011935"/>
              </p:ext>
            </p:extLst>
          </p:nvPr>
        </p:nvGraphicFramePr>
        <p:xfrm>
          <a:off x="612648" y="1508760"/>
          <a:ext cx="6949440" cy="914400"/>
        </p:xfrm>
        <a:graphic>
          <a:graphicData uri="http://schemas.openxmlformats.org/drawingml/2006/table">
            <a:tbl>
              <a:tblPr/>
              <a:tblGrid>
                <a:gridCol w="2194560"/>
                <a:gridCol w="868680"/>
                <a:gridCol w="1005840"/>
                <a:gridCol w="868680"/>
                <a:gridCol w="1051560"/>
                <a:gridCol w="960120"/>
              </a:tblGrid>
              <a:tr h="384048">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Group</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solidFill>
                      <a:srgbClr val="ECEAE3"/>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Share</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solidFill>
                      <a:srgbClr val="ECEAE3"/>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Risk index</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solidFill>
                      <a:srgbClr val="ECEAE3"/>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Limit</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solidFill>
                      <a:srgbClr val="ECEAE3"/>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Headroom</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solidFill>
                      <a:srgbClr val="ECEAE3"/>
                    </a:solidFill>
                  </a:tcPr>
                </a:tc>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solidFill>
                      <a:srgbClr val="ECEAE3"/>
                    </a:solidFill>
                  </a:tcPr>
                </a:tc>
              </a:tr>
              <a:tr h="384048">
                <a:tc>
                  <a:txBody>
                    <a:bodyPr/>
                    <a:lstStyle/>
                    <a:p>
                      <a:pPr indent="0" marL="0">
                        <a:buNone/>
                      </a:pPr>
                      <a:r>
                        <a:rPr lang="en-US" sz="1400" dirty="0">
                          <a:solidFill>
                            <a:srgbClr val="3E4A5C"/>
                          </a:solidFill>
                          <a:latin typeface="Calibri" pitchFamily="34" charset="0"/>
                          <a:ea typeface="Calibri" pitchFamily="34" charset="-122"/>
                          <a:cs typeface="Calibri" pitchFamily="34" charset="-120"/>
                        </a:rPr>
                        <a:t>California</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19.9%</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0.84</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−9.9 pts</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indent="0" marL="0">
                        <a:buNone/>
                      </a:pPr>
                      <a:r>
                        <a:rPr lang="en-US" sz="1400" b="1" dirty="0">
                          <a:solidFill>
                            <a:srgbClr val="B5461B"/>
                          </a:solidFill>
                          <a:latin typeface="Calibri" pitchFamily="34" charset="0"/>
                          <a:ea typeface="Calibri" pitchFamily="34" charset="-122"/>
                          <a:cs typeface="Calibri" pitchFamily="34" charset="-120"/>
                        </a:rPr>
                        <a:t>Breach</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r>
              <a:tr h="384048">
                <a:tc>
                  <a:txBody>
                    <a:bodyPr/>
                    <a:lstStyle/>
                    <a:p>
                      <a:pPr indent="0" marL="0">
                        <a:buNone/>
                      </a:pPr>
                      <a:r>
                        <a:rPr lang="en-US" sz="1400" dirty="0">
                          <a:solidFill>
                            <a:srgbClr val="3E4A5C"/>
                          </a:solidFill>
                          <a:latin typeface="Calibri" pitchFamily="34" charset="0"/>
                          <a:ea typeface="Calibri" pitchFamily="34" charset="-122"/>
                          <a:cs typeface="Calibri" pitchFamily="34" charset="-120"/>
                        </a:rPr>
                        <a:t>Retail Trade</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17.1%</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1.18</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15.0%</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−2.1 pts</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indent="0" marL="0">
                        <a:buNone/>
                      </a:pPr>
                      <a:r>
                        <a:rPr lang="en-US" sz="1400" b="1" dirty="0">
                          <a:solidFill>
                            <a:srgbClr val="B5461B"/>
                          </a:solidFill>
                          <a:latin typeface="Calibri" pitchFamily="34" charset="0"/>
                          <a:ea typeface="Calibri" pitchFamily="34" charset="-122"/>
                          <a:cs typeface="Calibri" pitchFamily="34" charset="-120"/>
                        </a:rPr>
                        <a:t>Breach</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r>
              <a:tr h="384048">
                <a:tc>
                  <a:txBody>
                    <a:bodyPr/>
                    <a:lstStyle/>
                    <a:p>
                      <a:pPr indent="0" marL="0">
                        <a:buNone/>
                      </a:pPr>
                      <a:r>
                        <a:rPr lang="en-US" sz="1400" dirty="0">
                          <a:solidFill>
                            <a:srgbClr val="3E4A5C"/>
                          </a:solidFill>
                          <a:latin typeface="Calibri" pitchFamily="34" charset="0"/>
                          <a:ea typeface="Calibri" pitchFamily="34" charset="-122"/>
                          <a:cs typeface="Calibri" pitchFamily="34" charset="-120"/>
                        </a:rPr>
                        <a:t>Accommodation &amp; Food</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17.0%</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0.99</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15.0%</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−2.0 pts</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indent="0" marL="0">
                        <a:buNone/>
                      </a:pPr>
                      <a:r>
                        <a:rPr lang="en-US" sz="1400" b="1" dirty="0">
                          <a:solidFill>
                            <a:srgbClr val="B5461B"/>
                          </a:solidFill>
                          <a:latin typeface="Calibri" pitchFamily="34" charset="0"/>
                          <a:ea typeface="Calibri" pitchFamily="34" charset="-122"/>
                          <a:cs typeface="Calibri" pitchFamily="34" charset="-120"/>
                        </a:rPr>
                        <a:t>Breach</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r>
              <a:tr h="384048">
                <a:tc>
                  <a:txBody>
                    <a:bodyPr/>
                    <a:lstStyle/>
                    <a:p>
                      <a:pPr indent="0" marL="0">
                        <a:buNone/>
                      </a:pPr>
                      <a:r>
                        <a:rPr lang="en-US" sz="1400" dirty="0">
                          <a:solidFill>
                            <a:srgbClr val="3E4A5C"/>
                          </a:solidFill>
                          <a:latin typeface="Calibri" pitchFamily="34" charset="0"/>
                          <a:ea typeface="Calibri" pitchFamily="34" charset="-122"/>
                          <a:cs typeface="Calibri" pitchFamily="34" charset="-120"/>
                        </a:rPr>
                        <a:t>Manufacturing</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12.9%</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0.75</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15.0%</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+2.1 pts</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indent="0" marL="0">
                        <a:buNone/>
                      </a:pPr>
                      <a:r>
                        <a:rPr lang="en-US" sz="1400" b="1" dirty="0">
                          <a:solidFill>
                            <a:srgbClr val="7A5F12"/>
                          </a:solidFill>
                          <a:latin typeface="Calibri" pitchFamily="34" charset="0"/>
                          <a:ea typeface="Calibri" pitchFamily="34" charset="-122"/>
                          <a:cs typeface="Calibri" pitchFamily="34" charset="-120"/>
                        </a:rPr>
                        <a:t>Watch</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r>
              <a:tr h="384048">
                <a:tc>
                  <a:txBody>
                    <a:bodyPr/>
                    <a:lstStyle/>
                    <a:p>
                      <a:pPr indent="0" marL="0">
                        <a:buNone/>
                      </a:pPr>
                      <a:r>
                        <a:rPr lang="en-US" sz="1400" dirty="0">
                          <a:solidFill>
                            <a:srgbClr val="3E4A5C"/>
                          </a:solidFill>
                          <a:latin typeface="Calibri" pitchFamily="34" charset="0"/>
                          <a:ea typeface="Calibri" pitchFamily="34" charset="-122"/>
                          <a:cs typeface="Calibri" pitchFamily="34" charset="-120"/>
                        </a:rPr>
                        <a:t>Texas</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8.4%</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1.04</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+1.6 pts</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indent="0" marL="0">
                        <a:buNone/>
                      </a:pPr>
                      <a:r>
                        <a:rPr lang="en-US" sz="1400" b="1" dirty="0">
                          <a:solidFill>
                            <a:srgbClr val="7A5F12"/>
                          </a:solidFill>
                          <a:latin typeface="Calibri" pitchFamily="34" charset="0"/>
                          <a:ea typeface="Calibri" pitchFamily="34" charset="-122"/>
                          <a:cs typeface="Calibri" pitchFamily="34" charset="-120"/>
                        </a:rPr>
                        <a:t>Watch</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r>
            </a:tbl>
          </a:graphicData>
        </a:graphic>
      </p:graphicFrame>
      <p:sp>
        <p:nvSpPr>
          <p:cNvPr id="4" name="Text 1"/>
          <p:cNvSpPr txBox="1"/>
          <p:nvPr/>
        </p:nvSpPr>
        <p:spPr>
          <a:xfrm>
            <a:off x="612648" y="4069080"/>
            <a:ext cx="6949440" cy="73152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Retail and Accommodation &amp; Food together hold </a:t>
            </a:r>
            <a:pPr indent="0" marL="0">
              <a:buNone/>
            </a:pPr>
            <a:r>
              <a:rPr lang="en-US" sz="1600" b="1" dirty="0">
                <a:solidFill>
                  <a:schemeClr val="tx2"/>
                </a:solidFill>
                <a:latin typeface="Calibri" pitchFamily="34" charset="0"/>
                <a:ea typeface="Calibri" pitchFamily="34" charset="-122"/>
                <a:cs typeface="Calibri" pitchFamily="34" charset="-120"/>
              </a:rPr>
              <a:t>34.1%</a:t>
            </a:r>
            <a:pPr indent="0" marL="0">
              <a:buNone/>
            </a:pPr>
            <a:r>
              <a:rPr lang="en-US" sz="1600" dirty="0">
                <a:solidFill>
                  <a:schemeClr val="tx2"/>
                </a:solidFill>
                <a:latin typeface="Calibri" pitchFamily="34" charset="0"/>
                <a:ea typeface="Calibri" pitchFamily="34" charset="-122"/>
                <a:cs typeface="Calibri" pitchFamily="34" charset="-120"/>
              </a:rPr>
              <a:t> of dollars, and both depend on consumer spending.</a:t>
            </a:r>
            <a:endParaRPr lang="en-US" sz="1600" dirty="0"/>
          </a:p>
        </p:txBody>
      </p:sp>
      <p:sp>
        <p:nvSpPr>
          <p:cNvPr id="5" name="Hot spots card"/>
          <p:cNvSpPr/>
          <p:nvPr/>
        </p:nvSpPr>
        <p:spPr>
          <a:xfrm>
            <a:off x="8001000" y="1508760"/>
            <a:ext cx="3578047" cy="2331720"/>
          </a:xfrm>
          <a:prstGeom prst="roundRect">
            <a:avLst>
              <a:gd name="adj" fmla="val 3137"/>
            </a:avLst>
          </a:prstGeom>
          <a:solidFill>
            <a:srgbClr val="FFFFFF"/>
          </a:solidFill>
          <a:ln w="9525">
            <a:solidFill>
              <a:srgbClr val="DEDBD2"/>
            </a:solidFill>
            <a:prstDash val="solid"/>
          </a:ln>
        </p:spPr>
      </p:sp>
      <p:sp>
        <p:nvSpPr>
          <p:cNvPr id="6" name="Text 3"/>
          <p:cNvSpPr txBox="1"/>
          <p:nvPr/>
        </p:nvSpPr>
        <p:spPr>
          <a:xfrm>
            <a:off x="8275320" y="1737360"/>
            <a:ext cx="3029407" cy="36576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Losing more than their size</a:t>
            </a:r>
            <a:endParaRPr lang="en-US" sz="1700" dirty="0"/>
          </a:p>
        </p:txBody>
      </p:sp>
      <p:sp>
        <p:nvSpPr>
          <p:cNvPr id="7" name="Text 4"/>
          <p:cNvSpPr txBox="1"/>
          <p:nvPr/>
        </p:nvSpPr>
        <p:spPr>
          <a:xfrm>
            <a:off x="8275320" y="2194560"/>
            <a:ext cx="3029407" cy="1463040"/>
          </a:xfrm>
          <a:prstGeom prst="rect">
            <a:avLst/>
          </a:prstGeom>
          <a:noFill/>
          <a:ln/>
        </p:spPr>
        <p:txBody>
          <a:bodyPr wrap="square" lIns="0" tIns="0" rIns="0" bIns="0" rtlCol="0" anchor="t"/>
          <a:lstStyle/>
          <a:p>
            <a:pPr indent="0" marL="0">
              <a:spcAft>
                <a:spcPts val="600"/>
              </a:spcAft>
              <a:buNone/>
            </a:pPr>
            <a:r>
              <a:rPr lang="en-US" sz="1400" dirty="0">
                <a:solidFill>
                  <a:schemeClr val="tx1"/>
                </a:solidFill>
                <a:latin typeface="Calibri" pitchFamily="34" charset="0"/>
                <a:ea typeface="Calibri" pitchFamily="34" charset="-122"/>
                <a:cs typeface="Calibri" pitchFamily="34" charset="-120"/>
              </a:rPr>
              <a:t>Florida: 5.5% of dollars, 8.8% of losses (risk index 1.59)</a:t>
            </a:r>
            <a:endParaRPr lang="en-US" sz="1400" dirty="0"/>
          </a:p>
          <a:p>
            <a:pPr indent="0" marL="0">
              <a:spcAft>
                <a:spcPts val="600"/>
              </a:spcAft>
              <a:buNone/>
            </a:pPr>
            <a:r>
              <a:rPr lang="en-US" sz="1400" dirty="0">
                <a:solidFill>
                  <a:schemeClr val="tx1"/>
                </a:solidFill>
                <a:latin typeface="Calibri" pitchFamily="34" charset="0"/>
                <a:ea typeface="Calibri" pitchFamily="34" charset="-122"/>
                <a:cs typeface="Calibri" pitchFamily="34" charset="-120"/>
              </a:rPr>
              <a:t>Construction: 6.7% of dollars, 9.1% of losses (1.35)</a:t>
            </a:r>
            <a:endParaRPr lang="en-US" sz="1400" dirty="0"/>
          </a:p>
          <a:p>
            <a:pPr indent="0" marL="0">
              <a:spcAft>
                <a:spcPts val="600"/>
              </a:spcAft>
              <a:buNone/>
            </a:pPr>
            <a:r>
              <a:rPr lang="en-US" sz="1400" dirty="0">
                <a:solidFill>
                  <a:schemeClr val="tx1"/>
                </a:solidFill>
                <a:latin typeface="Calibri" pitchFamily="34" charset="0"/>
                <a:ea typeface="Calibri" pitchFamily="34" charset="-122"/>
                <a:cs typeface="Calibri" pitchFamily="34" charset="-120"/>
              </a:rPr>
              <a:t>Michigan 1.39 · Georgia 1.30 · New York 1.27</a:t>
            </a:r>
            <a:endParaRPr lang="en-US" sz="1400" dirty="0"/>
          </a:p>
        </p:txBody>
      </p:sp>
      <p:sp>
        <p:nvSpPr>
          <p:cNvPr id="8" name="Small loans card"/>
          <p:cNvSpPr/>
          <p:nvPr/>
        </p:nvSpPr>
        <p:spPr>
          <a:xfrm>
            <a:off x="8001000" y="4069080"/>
            <a:ext cx="3578047" cy="1691640"/>
          </a:xfrm>
          <a:prstGeom prst="roundRect">
            <a:avLst>
              <a:gd name="adj" fmla="val 4324"/>
            </a:avLst>
          </a:prstGeom>
          <a:solidFill>
            <a:srgbClr val="FFFFFF"/>
          </a:solidFill>
          <a:ln w="9525">
            <a:solidFill>
              <a:srgbClr val="DEDBD2"/>
            </a:solidFill>
            <a:prstDash val="solid"/>
          </a:ln>
        </p:spPr>
      </p:sp>
      <p:sp>
        <p:nvSpPr>
          <p:cNvPr id="9" name="Text 6"/>
          <p:cNvSpPr txBox="1"/>
          <p:nvPr/>
        </p:nvSpPr>
        <p:spPr>
          <a:xfrm>
            <a:off x="8275320" y="4297680"/>
            <a:ext cx="3029407" cy="36576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Small loans fail more often</a:t>
            </a:r>
            <a:endParaRPr lang="en-US" sz="1700" dirty="0"/>
          </a:p>
        </p:txBody>
      </p:sp>
      <p:sp>
        <p:nvSpPr>
          <p:cNvPr id="10" name="Text 7"/>
          <p:cNvSpPr txBox="1"/>
          <p:nvPr/>
        </p:nvSpPr>
        <p:spPr>
          <a:xfrm>
            <a:off x="8275320" y="4754880"/>
            <a:ext cx="3029407" cy="822960"/>
          </a:xfrm>
          <a:prstGeom prst="rect">
            <a:avLst/>
          </a:prstGeom>
          <a:noFill/>
          <a:ln/>
        </p:spPr>
        <p:txBody>
          <a:bodyPr wrap="square" lIns="0" tIns="0" rIns="0" bIns="0" rtlCol="0" anchor="t"/>
          <a:lstStyle/>
          <a:p>
            <a:pPr indent="0" marL="0">
              <a:spcAft>
                <a:spcPts val="600"/>
              </a:spcAft>
              <a:buNone/>
            </a:pPr>
            <a:r>
              <a:rPr lang="en-US" sz="1400" dirty="0">
                <a:solidFill>
                  <a:schemeClr val="tx1"/>
                </a:solidFill>
                <a:latin typeface="Calibri" pitchFamily="34" charset="0"/>
                <a:ea typeface="Calibri" pitchFamily="34" charset="-122"/>
                <a:cs typeface="Calibri" pitchFamily="34" charset="-120"/>
              </a:rPr>
              <a:t>Loans under $50K: 32.4% defaulted, against 10.0% for $1M and over, </a:t>
            </a:r>
            <a:pPr indent="0" marL="0">
              <a:spcAft>
                <a:spcPts val="600"/>
              </a:spcAft>
              <a:buNone/>
            </a:pPr>
            <a:r>
              <a:rPr lang="en-US" sz="1400" b="1" dirty="0">
                <a:solidFill>
                  <a:schemeClr val="tx1"/>
                </a:solidFill>
                <a:latin typeface="Calibri" pitchFamily="34" charset="0"/>
                <a:ea typeface="Calibri" pitchFamily="34" charset="-122"/>
                <a:cs typeface="Calibri" pitchFamily="34" charset="-120"/>
              </a:rPr>
              <a:t>3.2× as often</a:t>
            </a:r>
            <a:endParaRPr lang="en-US" sz="1400" dirty="0"/>
          </a:p>
        </p:txBody>
      </p:sp>
      <p:sp>
        <p:nvSpPr>
          <p:cNvPr id="11" name="Source"/>
          <p:cNvSpPr txBox="1"/>
          <p:nvPr/>
        </p:nvSpPr>
        <p:spPr>
          <a:xfrm>
            <a:off x="612648" y="6263640"/>
            <a:ext cx="10424160" cy="320040"/>
          </a:xfrm>
          <a:prstGeom prst="rect">
            <a:avLst/>
          </a:prstGeom>
          <a:noFill/>
          <a:ln/>
        </p:spPr>
        <p:txBody>
          <a:bodyPr wrap="square" lIns="0" tIns="0" rIns="0" bIns="0" rtlCol="0" anchor="t"/>
          <a:lstStyle/>
          <a:p>
            <a:pPr indent="0" marL="0">
              <a:buNone/>
            </a:pPr>
            <a:r>
              <a:rPr lang="en-US" sz="1100" dirty="0">
                <a:solidFill>
                  <a:srgbClr val="6A7383"/>
                </a:solidFill>
                <a:latin typeface="Calibri" pitchFamily="34" charset="0"/>
                <a:ea typeface="Calibri" pitchFamily="34" charset="-122"/>
                <a:cs typeface="Calibri" pitchFamily="34" charset="-120"/>
              </a:rPr>
              <a:t>Loans approved 2001–2010. Risk index = share of losses ÷ share of dollars. Limits are example settings, not SBA or bank policy.</a:t>
            </a:r>
            <a:endParaRPr lang="en-US" sz="11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38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12648" y="457200"/>
            <a:ext cx="10966399" cy="82296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The portfolio’s own data warned three years early</a:t>
            </a:r>
            <a:endParaRPr lang="en-US" sz="3200" dirty="0"/>
          </a:p>
        </p:txBody>
      </p:sp>
      <p:graphicFrame>
        <p:nvGraphicFramePr>
          <p:cNvPr id="5" name="Warning table"/>
          <p:cNvGraphicFramePr>
            <a:graphicFrameLocks noGrp="1"/>
          </p:cNvGraphicFramePr>
          <p:nvPr>
            <p:extLst>
              <p:ext uri="{D42A27DB-BD31-4B8C-83A1-F6EECF244321}">
                <p14:modId xmlns:p14="http://schemas.microsoft.com/office/powerpoint/2010/main" val="1579011935"/>
              </p:ext>
            </p:extLst>
          </p:nvPr>
        </p:nvGraphicFramePr>
        <p:xfrm>
          <a:off x="612648" y="1508760"/>
          <a:ext cx="6949440" cy="914400"/>
        </p:xfrm>
        <a:graphic>
          <a:graphicData uri="http://schemas.openxmlformats.org/drawingml/2006/table">
            <a:tbl>
              <a:tblPr/>
              <a:tblGrid>
                <a:gridCol w="822960"/>
                <a:gridCol w="2286000"/>
                <a:gridCol w="2103120"/>
                <a:gridCol w="1737360"/>
              </a:tblGrid>
              <a:tr h="384048">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Year</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solidFill>
                      <a:srgbClr val="ECEAE3"/>
                    </a:solidFill>
                  </a:tcPr>
                </a:tc>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Portfolio signal</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solidFill>
                      <a:srgbClr val="ECEAE3"/>
                    </a:solidFill>
                  </a:tcPr>
                </a:tc>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Economy signal</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solidFill>
                      <a:srgbClr val="ECEAE3"/>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Charge-off rate</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solidFill>
                      <a:srgbClr val="ECEAE3"/>
                    </a:solidFill>
                  </a:tcPr>
                </a:tc>
              </a:tr>
              <a:tr h="384048">
                <a:tc>
                  <a:txBody>
                    <a:bodyPr/>
                    <a:lstStyle/>
                    <a:p>
                      <a:pPr indent="0" marL="0">
                        <a:buNone/>
                      </a:pPr>
                      <a:r>
                        <a:rPr lang="en-US" sz="1400" dirty="0">
                          <a:solidFill>
                            <a:srgbClr val="3E4A5C"/>
                          </a:solidFill>
                          <a:latin typeface="Calibri" pitchFamily="34" charset="0"/>
                          <a:ea typeface="Calibri" pitchFamily="34" charset="-122"/>
                          <a:cs typeface="Calibri" pitchFamily="34" charset="-120"/>
                        </a:rPr>
                        <a:t>2006</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indent="0" marL="0">
                        <a:buNone/>
                      </a:pPr>
                      <a:r>
                        <a:rPr lang="en-US" sz="1400" dirty="0">
                          <a:solidFill>
                            <a:srgbClr val="7A5F12"/>
                          </a:solidFill>
                          <a:latin typeface="Calibri" pitchFamily="34" charset="0"/>
                          <a:ea typeface="Calibri" pitchFamily="34" charset="-122"/>
                          <a:cs typeface="Calibri" pitchFamily="34" charset="-120"/>
                        </a:rPr>
                        <a:t>Amber · 2.4× normal</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indent="0" marL="0">
                        <a:buNone/>
                      </a:pPr>
                      <a:r>
                        <a:rPr lang="en-US" sz="1400" dirty="0">
                          <a:solidFill>
                            <a:srgbClr val="3E4A5C"/>
                          </a:solidFill>
                          <a:latin typeface="Calibri" pitchFamily="34" charset="0"/>
                          <a:ea typeface="Calibri" pitchFamily="34" charset="-122"/>
                          <a:cs typeface="Calibri" pitchFamily="34" charset="-120"/>
                        </a:rPr>
                        <a:t>Green</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2.74%</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r>
              <a:tr h="384048">
                <a:tc>
                  <a:txBody>
                    <a:bodyPr/>
                    <a:lstStyle/>
                    <a:p>
                      <a:pPr indent="0" marL="0">
                        <a:buNone/>
                      </a:pPr>
                      <a:r>
                        <a:rPr lang="en-US" sz="1400" dirty="0">
                          <a:solidFill>
                            <a:srgbClr val="3E4A5C"/>
                          </a:solidFill>
                          <a:latin typeface="Calibri" pitchFamily="34" charset="0"/>
                          <a:ea typeface="Calibri" pitchFamily="34" charset="-122"/>
                          <a:cs typeface="Calibri" pitchFamily="34" charset="-120"/>
                        </a:rPr>
                        <a:t>2007</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indent="0" marL="0">
                        <a:buNone/>
                      </a:pPr>
                      <a:r>
                        <a:rPr lang="en-US" sz="1400" dirty="0">
                          <a:solidFill>
                            <a:srgbClr val="B5461B"/>
                          </a:solidFill>
                          <a:latin typeface="Calibri" pitchFamily="34" charset="0"/>
                          <a:ea typeface="Calibri" pitchFamily="34" charset="-122"/>
                          <a:cs typeface="Calibri" pitchFamily="34" charset="-120"/>
                        </a:rPr>
                        <a:t>Red · 3.1× normal</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indent="0" marL="0">
                        <a:buNone/>
                      </a:pPr>
                      <a:r>
                        <a:rPr lang="en-US" sz="1400" dirty="0">
                          <a:solidFill>
                            <a:srgbClr val="3E4A5C"/>
                          </a:solidFill>
                          <a:latin typeface="Calibri" pitchFamily="34" charset="0"/>
                          <a:ea typeface="Calibri" pitchFamily="34" charset="-122"/>
                          <a:cs typeface="Calibri" pitchFamily="34" charset="-120"/>
                        </a:rPr>
                        <a:t>Green</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1.91%</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r>
              <a:tr h="384048">
                <a:tc>
                  <a:txBody>
                    <a:bodyPr/>
                    <a:lstStyle/>
                    <a:p>
                      <a:pPr indent="0" marL="0">
                        <a:buNone/>
                      </a:pPr>
                      <a:r>
                        <a:rPr lang="en-US" sz="1400" dirty="0">
                          <a:solidFill>
                            <a:srgbClr val="3E4A5C"/>
                          </a:solidFill>
                          <a:latin typeface="Calibri" pitchFamily="34" charset="0"/>
                          <a:ea typeface="Calibri" pitchFamily="34" charset="-122"/>
                          <a:cs typeface="Calibri" pitchFamily="34" charset="-120"/>
                        </a:rPr>
                        <a:t>2008</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indent="0" marL="0">
                        <a:buNone/>
                      </a:pPr>
                      <a:r>
                        <a:rPr lang="en-US" sz="1400" dirty="0">
                          <a:solidFill>
                            <a:srgbClr val="B5461B"/>
                          </a:solidFill>
                          <a:latin typeface="Calibri" pitchFamily="34" charset="0"/>
                          <a:ea typeface="Calibri" pitchFamily="34" charset="-122"/>
                          <a:cs typeface="Calibri" pitchFamily="34" charset="-120"/>
                        </a:rPr>
                        <a:t>Red · 5.6× normal</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indent="0" marL="0">
                        <a:buNone/>
                      </a:pPr>
                      <a:r>
                        <a:rPr lang="en-US" sz="1400" dirty="0">
                          <a:solidFill>
                            <a:srgbClr val="7A5F12"/>
                          </a:solidFill>
                          <a:latin typeface="Calibri" pitchFamily="34" charset="0"/>
                          <a:ea typeface="Calibri" pitchFamily="34" charset="-122"/>
                          <a:cs typeface="Calibri" pitchFamily="34" charset="-120"/>
                        </a:rPr>
                        <a:t>Amber · +1.2 pts</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4.36%</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r>
              <a:tr h="384048">
                <a:tc>
                  <a:txBody>
                    <a:bodyPr/>
                    <a:lstStyle/>
                    <a:p>
                      <a:pPr indent="0" marL="0">
                        <a:buNone/>
                      </a:pPr>
                      <a:r>
                        <a:rPr lang="en-US" sz="1400" dirty="0">
                          <a:solidFill>
                            <a:srgbClr val="3E4A5C"/>
                          </a:solidFill>
                          <a:latin typeface="Calibri" pitchFamily="34" charset="0"/>
                          <a:ea typeface="Calibri" pitchFamily="34" charset="-122"/>
                          <a:cs typeface="Calibri" pitchFamily="34" charset="-120"/>
                        </a:rPr>
                        <a:t>2009</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indent="0" marL="0">
                        <a:buNone/>
                      </a:pPr>
                      <a:r>
                        <a:rPr lang="en-US" sz="1400" dirty="0">
                          <a:solidFill>
                            <a:srgbClr val="B5461B"/>
                          </a:solidFill>
                          <a:latin typeface="Calibri" pitchFamily="34" charset="0"/>
                          <a:ea typeface="Calibri" pitchFamily="34" charset="-122"/>
                          <a:cs typeface="Calibri" pitchFamily="34" charset="-120"/>
                        </a:rPr>
                        <a:t>Red · 10.5× normal</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indent="0" marL="0">
                        <a:buNone/>
                      </a:pPr>
                      <a:r>
                        <a:rPr lang="en-US" sz="1400" dirty="0">
                          <a:solidFill>
                            <a:srgbClr val="B5461B"/>
                          </a:solidFill>
                          <a:latin typeface="Calibri" pitchFamily="34" charset="0"/>
                          <a:ea typeface="Calibri" pitchFamily="34" charset="-122"/>
                          <a:cs typeface="Calibri" pitchFamily="34" charset="-120"/>
                        </a:rPr>
                        <a:t>Red · +3.5 pts</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dirty="0">
                          <a:solidFill>
                            <a:srgbClr val="3E4A5C"/>
                          </a:solidFill>
                          <a:latin typeface="Calibri" pitchFamily="34" charset="0"/>
                          <a:ea typeface="Calibri" pitchFamily="34" charset="-122"/>
                          <a:cs typeface="Calibri" pitchFamily="34" charset="-120"/>
                        </a:rPr>
                        <a:t>4.82%</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r>
              <a:tr h="384048">
                <a:tc>
                  <a:txBody>
                    <a:bodyPr/>
                    <a:lstStyle/>
                    <a:p>
                      <a:pPr indent="0" marL="0">
                        <a:buNone/>
                      </a:pPr>
                      <a:r>
                        <a:rPr lang="en-US" sz="1400" dirty="0">
                          <a:solidFill>
                            <a:srgbClr val="3E4A5C"/>
                          </a:solidFill>
                          <a:latin typeface="Calibri" pitchFamily="34" charset="0"/>
                          <a:ea typeface="Calibri" pitchFamily="34" charset="-122"/>
                          <a:cs typeface="Calibri" pitchFamily="34" charset="-120"/>
                        </a:rPr>
                        <a:t>2010</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indent="0" marL="0">
                        <a:buNone/>
                      </a:pPr>
                      <a:r>
                        <a:rPr lang="en-US" sz="1400" dirty="0">
                          <a:solidFill>
                            <a:srgbClr val="B5461B"/>
                          </a:solidFill>
                          <a:latin typeface="Calibri" pitchFamily="34" charset="0"/>
                          <a:ea typeface="Calibri" pitchFamily="34" charset="-122"/>
                          <a:cs typeface="Calibri" pitchFamily="34" charset="-120"/>
                        </a:rPr>
                        <a:t>Red · 12.3× normal</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indent="0" marL="0">
                        <a:buNone/>
                      </a:pPr>
                      <a:r>
                        <a:rPr lang="en-US" sz="1400" dirty="0">
                          <a:solidFill>
                            <a:srgbClr val="3E4A5C"/>
                          </a:solidFill>
                          <a:latin typeface="Calibri" pitchFamily="34" charset="0"/>
                          <a:ea typeface="Calibri" pitchFamily="34" charset="-122"/>
                          <a:cs typeface="Calibri" pitchFamily="34" charset="-120"/>
                        </a:rPr>
                        <a:t>Green</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9.34% peak</a:t>
                      </a:r>
                      <a:endParaRPr lang="en-US" sz="1400" dirty="0">
                        <a:latin typeface="Calibri" charset="0"/>
                        <a:ea typeface="Calibri" charset="0"/>
                        <a:cs typeface="Calibri" charset="0"/>
                      </a:endParaRPr>
                    </a:p>
                  </a:txBody>
                  <a:tcPr marL="91440" marR="91440" marT="36576" marB="36576" anchor="ctr">
                    <a:lnL w="9525" cap="flat" cmpd="sng" algn="ctr">
                      <a:solidFill>
                        <a:srgbClr val="DEDBD2"/>
                      </a:solidFill>
                      <a:prstDash val="solid"/>
                      <a:round/>
                      <a:headEnd type="none" w="med" len="med"/>
                      <a:tailEnd type="none" w="med" len="med"/>
                    </a:lnL>
                    <a:lnR w="9525" cap="flat" cmpd="sng" algn="ctr">
                      <a:solidFill>
                        <a:srgbClr val="DEDBD2"/>
                      </a:solidFill>
                      <a:prstDash val="solid"/>
                      <a:round/>
                      <a:headEnd type="none" w="med" len="med"/>
                      <a:tailEnd type="none" w="med" len="med"/>
                    </a:lnR>
                    <a:lnT w="9525" cap="flat" cmpd="sng" algn="ctr">
                      <a:solidFill>
                        <a:srgbClr val="DEDBD2"/>
                      </a:solidFill>
                      <a:prstDash val="solid"/>
                      <a:round/>
                      <a:headEnd type="none" w="med" len="med"/>
                      <a:tailEnd type="none" w="med" len="med"/>
                    </a:lnT>
                    <a:lnB w="9525" cap="flat" cmpd="sng" algn="ctr">
                      <a:solidFill>
                        <a:srgbClr val="DEDBD2"/>
                      </a:solidFill>
                      <a:prstDash val="solid"/>
                      <a:round/>
                      <a:headEnd type="none" w="med" len="med"/>
                      <a:tailEnd type="none" w="med" len="med"/>
                    </a:lnB>
                  </a:tcPr>
                </a:tc>
              </a:tr>
            </a:tbl>
          </a:graphicData>
        </a:graphic>
      </p:graphicFrame>
      <p:sp>
        <p:nvSpPr>
          <p:cNvPr id="4" name="Text 1"/>
          <p:cNvSpPr txBox="1"/>
          <p:nvPr/>
        </p:nvSpPr>
        <p:spPr>
          <a:xfrm>
            <a:off x="612648" y="4069080"/>
            <a:ext cx="6949440" cy="1463040"/>
          </a:xfrm>
          <a:prstGeom prst="rect">
            <a:avLst/>
          </a:prstGeom>
          <a:noFill/>
          <a:ln/>
        </p:spPr>
        <p:txBody>
          <a:bodyPr wrap="square" lIns="0" tIns="0" rIns="0" bIns="0" rtlCol="0" anchor="t"/>
          <a:lstStyle/>
          <a:p>
            <a:pPr indent="0" marL="0">
              <a:buNone/>
            </a:pPr>
            <a:r>
              <a:rPr lang="en-US" sz="1400" dirty="0">
                <a:solidFill>
                  <a:srgbClr val="6A7383"/>
                </a:solidFill>
                <a:latin typeface="Calibri" pitchFamily="34" charset="0"/>
                <a:ea typeface="Calibri" pitchFamily="34" charset="-122"/>
                <a:cs typeface="Calibri" pitchFamily="34" charset="-120"/>
              </a:rPr>
              <a:t>Portfolio signal: share of each new vintage charged off within 2 years, against the 2001–2003 average (0.63%). Economy signal: yearly rise in U.S. unemployment. Unemployment moved with losses (+0.80 correlation) rather than ahead of them (+0.67).</a:t>
            </a:r>
            <a:endParaRPr lang="en-US" sz="1400" dirty="0"/>
          </a:p>
        </p:txBody>
      </p:sp>
      <p:sp>
        <p:nvSpPr>
          <p:cNvPr id="5" name="KeyBank card"/>
          <p:cNvSpPr/>
          <p:nvPr/>
        </p:nvSpPr>
        <p:spPr>
          <a:xfrm>
            <a:off x="8001000" y="1508760"/>
            <a:ext cx="3578047" cy="4251960"/>
          </a:xfrm>
          <a:prstGeom prst="roundRect">
            <a:avLst>
              <a:gd name="adj" fmla="val 2556"/>
            </a:avLst>
          </a:prstGeom>
          <a:solidFill>
            <a:srgbClr val="14213D"/>
          </a:solidFill>
          <a:ln/>
        </p:spPr>
      </p:sp>
      <p:sp>
        <p:nvSpPr>
          <p:cNvPr id="6" name="Text 3"/>
          <p:cNvSpPr txBox="1"/>
          <p:nvPr/>
        </p:nvSpPr>
        <p:spPr>
          <a:xfrm>
            <a:off x="8321040" y="1783080"/>
            <a:ext cx="2937967" cy="320040"/>
          </a:xfrm>
          <a:prstGeom prst="rect">
            <a:avLst/>
          </a:prstGeom>
          <a:noFill/>
          <a:ln/>
        </p:spPr>
        <p:txBody>
          <a:bodyPr wrap="square" lIns="0" tIns="0" rIns="0" bIns="0" rtlCol="0" anchor="t"/>
          <a:lstStyle/>
          <a:p>
            <a:pPr indent="0" marL="0">
              <a:buNone/>
            </a:pPr>
            <a:r>
              <a:rPr lang="en-US" sz="1200" b="1" spc="100" kern="0" dirty="0">
                <a:solidFill>
                  <a:srgbClr val="E8894A"/>
                </a:solidFill>
                <a:latin typeface="Calibri" pitchFamily="34" charset="0"/>
                <a:ea typeface="Calibri" pitchFamily="34" charset="-122"/>
                <a:cs typeface="Calibri" pitchFamily="34" charset="-120"/>
              </a:rPr>
              <a:t>PEER BENCHMARK · KEYBANK</a:t>
            </a:r>
            <a:endParaRPr lang="en-US" sz="1200" dirty="0"/>
          </a:p>
        </p:txBody>
      </p:sp>
      <p:sp>
        <p:nvSpPr>
          <p:cNvPr id="7" name="Text 4"/>
          <p:cNvSpPr txBox="1"/>
          <p:nvPr/>
        </p:nvSpPr>
        <p:spPr>
          <a:xfrm>
            <a:off x="8321040" y="2194560"/>
            <a:ext cx="2937967" cy="1005840"/>
          </a:xfrm>
          <a:prstGeom prst="rect">
            <a:avLst/>
          </a:prstGeom>
          <a:noFill/>
          <a:ln/>
        </p:spPr>
        <p:txBody>
          <a:bodyPr wrap="square" lIns="0" tIns="0" rIns="0" bIns="0" rtlCol="0" anchor="t"/>
          <a:lstStyle/>
          <a:p>
            <a:pPr indent="0" marL="0">
              <a:buNone/>
            </a:pPr>
            <a:r>
              <a:rPr lang="en-US" sz="6000" b="1" dirty="0">
                <a:solidFill>
                  <a:srgbClr val="F4F1EA"/>
                </a:solidFill>
                <a:latin typeface="Cambria" pitchFamily="34" charset="0"/>
                <a:ea typeface="Cambria" pitchFamily="34" charset="-122"/>
                <a:cs typeface="Cambria" pitchFamily="34" charset="-120"/>
              </a:rPr>
              <a:t>0.71</a:t>
            </a:r>
            <a:endParaRPr lang="en-US" sz="6000" dirty="0"/>
          </a:p>
        </p:txBody>
      </p:sp>
      <p:sp>
        <p:nvSpPr>
          <p:cNvPr id="8" name="Text 5"/>
          <p:cNvSpPr txBox="1"/>
          <p:nvPr/>
        </p:nvSpPr>
        <p:spPr>
          <a:xfrm>
            <a:off x="8321040" y="3291840"/>
            <a:ext cx="2937967" cy="777240"/>
          </a:xfrm>
          <a:prstGeom prst="rect">
            <a:avLst/>
          </a:prstGeom>
          <a:noFill/>
          <a:ln/>
        </p:spPr>
        <p:txBody>
          <a:bodyPr wrap="square" lIns="0" tIns="0" rIns="0" bIns="0" rtlCol="0" anchor="t"/>
          <a:lstStyle/>
          <a:p>
            <a:pPr indent="0" marL="0">
              <a:buNone/>
            </a:pPr>
            <a:r>
              <a:rPr lang="en-US" sz="1700" dirty="0">
                <a:solidFill>
                  <a:srgbClr val="F4F1EA"/>
                </a:solidFill>
                <a:latin typeface="Calibri" pitchFamily="34" charset="0"/>
                <a:ea typeface="Calibri" pitchFamily="34" charset="-122"/>
                <a:cs typeface="Calibri" pitchFamily="34" charset="-120"/>
              </a:rPr>
              <a:t>29% fewer defaults than other lenders on the same kind of loans</a:t>
            </a:r>
            <a:endParaRPr lang="en-US" sz="1700" dirty="0"/>
          </a:p>
        </p:txBody>
      </p:sp>
      <p:sp>
        <p:nvSpPr>
          <p:cNvPr id="9" name="Text 6"/>
          <p:cNvSpPr txBox="1"/>
          <p:nvPr/>
        </p:nvSpPr>
        <p:spPr>
          <a:xfrm>
            <a:off x="8321040" y="4160520"/>
            <a:ext cx="2937967" cy="1371600"/>
          </a:xfrm>
          <a:prstGeom prst="rect">
            <a:avLst/>
          </a:prstGeom>
          <a:noFill/>
          <a:ln/>
        </p:spPr>
        <p:txBody>
          <a:bodyPr wrap="square" lIns="0" tIns="0" rIns="0" bIns="0" rtlCol="0" anchor="t"/>
          <a:lstStyle/>
          <a:p>
            <a:pPr indent="0" marL="0">
              <a:buNone/>
            </a:pPr>
            <a:r>
              <a:rPr lang="en-US" sz="1400" dirty="0">
                <a:solidFill>
                  <a:srgbClr val="C9D1DE"/>
                </a:solidFill>
                <a:latin typeface="Calibri" pitchFamily="34" charset="0"/>
                <a:ea typeface="Calibri" pitchFamily="34" charset="-122"/>
                <a:cs typeface="Calibri" pitchFamily="34" charset="-120"/>
              </a:rPr>
              <a:t>Same approval year, loan size and industry. The edge is in loans under $50K (0.58). Dollar losses were 5% below peers (loss index 0.95).</a:t>
            </a:r>
            <a:endParaRPr lang="en-US" sz="1400" dirty="0"/>
          </a:p>
        </p:txBody>
      </p:sp>
      <p:sp>
        <p:nvSpPr>
          <p:cNvPr id="10" name="Source"/>
          <p:cNvSpPr txBox="1"/>
          <p:nvPr/>
        </p:nvSpPr>
        <p:spPr>
          <a:xfrm>
            <a:off x="612648" y="6263640"/>
            <a:ext cx="10424160" cy="320040"/>
          </a:xfrm>
          <a:prstGeom prst="rect">
            <a:avLst/>
          </a:prstGeom>
          <a:noFill/>
          <a:ln/>
        </p:spPr>
        <p:txBody>
          <a:bodyPr wrap="square" lIns="0" tIns="0" rIns="0" bIns="0" rtlCol="0" anchor="t"/>
          <a:lstStyle/>
          <a:p>
            <a:pPr indent="0" marL="0">
              <a:buNone/>
            </a:pPr>
            <a:r>
              <a:rPr lang="en-US" sz="1100" dirty="0">
                <a:solidFill>
                  <a:srgbClr val="6A7383"/>
                </a:solidFill>
                <a:latin typeface="Calibri" pitchFamily="34" charset="0"/>
                <a:ea typeface="Calibri" pitchFamily="34" charset="-122"/>
                <a:cs typeface="Calibri" pitchFamily="34" charset="-120"/>
              </a:rPr>
              <a:t>Thresholds: Amber from 2× normal or +1 point unemployment, Red from 3× or +2 points. Unemployment: FRED series UNRATE.</a:t>
            </a:r>
            <a:endParaRPr lang="en-US" sz="11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38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12648" y="457200"/>
            <a:ext cx="10966399" cy="82296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Five recommendations</a:t>
            </a:r>
            <a:endParaRPr lang="en-US" sz="3200" dirty="0"/>
          </a:p>
        </p:txBody>
      </p:sp>
      <p:sp>
        <p:nvSpPr>
          <p:cNvPr id="3" name="Number 1"/>
          <p:cNvSpPr/>
          <p:nvPr/>
        </p:nvSpPr>
        <p:spPr>
          <a:xfrm>
            <a:off x="612648" y="1417320"/>
            <a:ext cx="548640" cy="548640"/>
          </a:xfrm>
          <a:prstGeom prst="ellipse">
            <a:avLst/>
          </a:prstGeom>
          <a:solidFill>
            <a:srgbClr val="B5461B"/>
          </a:solidFill>
          <a:ln/>
        </p:spPr>
      </p:sp>
      <p:sp>
        <p:nvSpPr>
          <p:cNvPr id="4" name="Text 2"/>
          <p:cNvSpPr txBox="1"/>
          <p:nvPr/>
        </p:nvSpPr>
        <p:spPr>
          <a:xfrm>
            <a:off x="612648" y="14173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435608" y="1371600"/>
            <a:ext cx="10143439" cy="347472"/>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Add the 2-year early-default signal to quarterly reporting</a:t>
            </a:r>
            <a:endParaRPr lang="en-US" sz="1700" dirty="0"/>
          </a:p>
        </p:txBody>
      </p:sp>
      <p:sp>
        <p:nvSpPr>
          <p:cNvPr id="6" name="Text 4"/>
          <p:cNvSpPr txBox="1"/>
          <p:nvPr/>
        </p:nvSpPr>
        <p:spPr>
          <a:xfrm>
            <a:off x="1435608" y="1719072"/>
            <a:ext cx="10143439"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Amber when a new vintage fails 2× faster than normal, Red at 3×. It turned Red in 2007, three years before losses peaked.</a:t>
            </a:r>
            <a:endParaRPr lang="en-US" sz="1400" dirty="0"/>
          </a:p>
        </p:txBody>
      </p:sp>
      <p:sp>
        <p:nvSpPr>
          <p:cNvPr id="7" name="Number 2"/>
          <p:cNvSpPr/>
          <p:nvPr/>
        </p:nvSpPr>
        <p:spPr>
          <a:xfrm>
            <a:off x="612648" y="2368296"/>
            <a:ext cx="548640" cy="548640"/>
          </a:xfrm>
          <a:prstGeom prst="ellipse">
            <a:avLst/>
          </a:prstGeom>
          <a:solidFill>
            <a:srgbClr val="B5461B"/>
          </a:solidFill>
          <a:ln/>
        </p:spPr>
      </p:sp>
      <p:sp>
        <p:nvSpPr>
          <p:cNvPr id="8" name="Text 6"/>
          <p:cNvSpPr txBox="1"/>
          <p:nvPr/>
        </p:nvSpPr>
        <p:spPr>
          <a:xfrm>
            <a:off x="612648" y="2368296"/>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9" name="Text 7"/>
          <p:cNvSpPr txBox="1"/>
          <p:nvPr/>
        </p:nvSpPr>
        <p:spPr>
          <a:xfrm>
            <a:off x="1435608" y="2322576"/>
            <a:ext cx="10143439" cy="347472"/>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Manage consumer-spending industries as one concentration</a:t>
            </a:r>
            <a:endParaRPr lang="en-US" sz="1700" dirty="0"/>
          </a:p>
        </p:txBody>
      </p:sp>
      <p:sp>
        <p:nvSpPr>
          <p:cNvPr id="10" name="Text 8"/>
          <p:cNvSpPr txBox="1"/>
          <p:nvPr/>
        </p:nvSpPr>
        <p:spPr>
          <a:xfrm>
            <a:off x="1435608" y="2670048"/>
            <a:ext cx="10143439"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Retail and Accommodation &amp; Food hold 34.1% of dollars and are both over their 15% limits. Set a combined limit and a plan to return within it.</a:t>
            </a:r>
            <a:endParaRPr lang="en-US" sz="1400" dirty="0"/>
          </a:p>
        </p:txBody>
      </p:sp>
      <p:sp>
        <p:nvSpPr>
          <p:cNvPr id="11" name="Number 3"/>
          <p:cNvSpPr/>
          <p:nvPr/>
        </p:nvSpPr>
        <p:spPr>
          <a:xfrm>
            <a:off x="612648" y="3319272"/>
            <a:ext cx="548640" cy="548640"/>
          </a:xfrm>
          <a:prstGeom prst="ellipse">
            <a:avLst/>
          </a:prstGeom>
          <a:solidFill>
            <a:srgbClr val="B5461B"/>
          </a:solidFill>
          <a:ln/>
        </p:spPr>
      </p:sp>
      <p:sp>
        <p:nvSpPr>
          <p:cNvPr id="12" name="Text 10"/>
          <p:cNvSpPr txBox="1"/>
          <p:nvPr/>
        </p:nvSpPr>
        <p:spPr>
          <a:xfrm>
            <a:off x="612648" y="3319272"/>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3" name="Text 11"/>
          <p:cNvSpPr txBox="1"/>
          <p:nvPr/>
        </p:nvSpPr>
        <p:spPr>
          <a:xfrm>
            <a:off x="1435608" y="3273552"/>
            <a:ext cx="10143439" cy="347472"/>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Set a glide path for California</a:t>
            </a:r>
            <a:endParaRPr lang="en-US" sz="1700" dirty="0"/>
          </a:p>
        </p:txBody>
      </p:sp>
      <p:sp>
        <p:nvSpPr>
          <p:cNvPr id="14" name="Text 12"/>
          <p:cNvSpPr txBox="1"/>
          <p:nvPr/>
        </p:nvSpPr>
        <p:spPr>
          <a:xfrm>
            <a:off x="1435608" y="3621024"/>
            <a:ext cx="10143439"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19.9% of dollars against a 10% limit, and its 3-year failure rate rose 8.9× in the boom, against 5.3× for Texas.</a:t>
            </a:r>
            <a:endParaRPr lang="en-US" sz="1400" dirty="0"/>
          </a:p>
        </p:txBody>
      </p:sp>
      <p:sp>
        <p:nvSpPr>
          <p:cNvPr id="15" name="Number 4"/>
          <p:cNvSpPr/>
          <p:nvPr/>
        </p:nvSpPr>
        <p:spPr>
          <a:xfrm>
            <a:off x="612648" y="4270248"/>
            <a:ext cx="548640" cy="548640"/>
          </a:xfrm>
          <a:prstGeom prst="ellipse">
            <a:avLst/>
          </a:prstGeom>
          <a:solidFill>
            <a:srgbClr val="B5461B"/>
          </a:solidFill>
          <a:ln/>
        </p:spPr>
      </p:sp>
      <p:sp>
        <p:nvSpPr>
          <p:cNvPr id="16" name="Text 14"/>
          <p:cNvSpPr txBox="1"/>
          <p:nvPr/>
        </p:nvSpPr>
        <p:spPr>
          <a:xfrm>
            <a:off x="612648" y="4270248"/>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17" name="Text 15"/>
          <p:cNvSpPr txBox="1"/>
          <p:nvPr/>
        </p:nvSpPr>
        <p:spPr>
          <a:xfrm>
            <a:off x="1435608" y="4224528"/>
            <a:ext cx="10143439" cy="347472"/>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Price and underwrite small loans and hot spots for their risk</a:t>
            </a:r>
            <a:endParaRPr lang="en-US" sz="1700" dirty="0"/>
          </a:p>
        </p:txBody>
      </p:sp>
      <p:sp>
        <p:nvSpPr>
          <p:cNvPr id="18" name="Text 16"/>
          <p:cNvSpPr txBox="1"/>
          <p:nvPr/>
        </p:nvSpPr>
        <p:spPr>
          <a:xfrm>
            <a:off x="1435608" y="4572000"/>
            <a:ext cx="10143439"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Loans under $50K default 3.2× as often as $1M+ loans. Florida, Georgia and Construction lose clearly more than their size.</a:t>
            </a:r>
            <a:endParaRPr lang="en-US" sz="1400" dirty="0"/>
          </a:p>
        </p:txBody>
      </p:sp>
      <p:sp>
        <p:nvSpPr>
          <p:cNvPr id="19" name="Number 5"/>
          <p:cNvSpPr/>
          <p:nvPr/>
        </p:nvSpPr>
        <p:spPr>
          <a:xfrm>
            <a:off x="612648" y="5221224"/>
            <a:ext cx="548640" cy="548640"/>
          </a:xfrm>
          <a:prstGeom prst="ellipse">
            <a:avLst/>
          </a:prstGeom>
          <a:solidFill>
            <a:srgbClr val="B5461B"/>
          </a:solidFill>
          <a:ln/>
        </p:spPr>
      </p:sp>
      <p:sp>
        <p:nvSpPr>
          <p:cNvPr id="20" name="Text 18"/>
          <p:cNvSpPr txBox="1"/>
          <p:nvPr/>
        </p:nvSpPr>
        <p:spPr>
          <a:xfrm>
            <a:off x="612648" y="5221224"/>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1" name="Text 19"/>
          <p:cNvSpPr txBox="1"/>
          <p:nvPr/>
        </p:nvSpPr>
        <p:spPr>
          <a:xfrm>
            <a:off x="1435608" y="5175504"/>
            <a:ext cx="10143439" cy="347472"/>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Benchmark lenders like for like</a:t>
            </a:r>
            <a:endParaRPr lang="en-US" sz="1700" dirty="0"/>
          </a:p>
        </p:txBody>
      </p:sp>
      <p:sp>
        <p:nvSpPr>
          <p:cNvPr id="22" name="Text 20"/>
          <p:cNvSpPr txBox="1"/>
          <p:nvPr/>
        </p:nvSpPr>
        <p:spPr>
          <a:xfrm>
            <a:off x="1435608" y="5522976"/>
            <a:ext cx="10143439"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Compare actual with expected defaults on the same year, size and industry. Comerica looks better than average on raw rates (0.94) but has 59% more defaults than peers (1.59).</a:t>
            </a:r>
            <a:endParaRPr lang="en-US" sz="1400" dirty="0"/>
          </a:p>
        </p:txBody>
      </p:sp>
      <p:sp>
        <p:nvSpPr>
          <p:cNvPr id="23" name="Source"/>
          <p:cNvSpPr txBox="1"/>
          <p:nvPr/>
        </p:nvSpPr>
        <p:spPr>
          <a:xfrm>
            <a:off x="612648" y="6263640"/>
            <a:ext cx="10424160" cy="320040"/>
          </a:xfrm>
          <a:prstGeom prst="rect">
            <a:avLst/>
          </a:prstGeom>
          <a:noFill/>
          <a:ln/>
        </p:spPr>
        <p:txBody>
          <a:bodyPr wrap="square" lIns="0" tIns="0" rIns="0" bIns="0" rtlCol="0" anchor="t"/>
          <a:lstStyle/>
          <a:p>
            <a:pPr indent="0" marL="0">
              <a:buNone/>
            </a:pPr>
            <a:r>
              <a:rPr lang="en-US" sz="1100" dirty="0">
                <a:solidFill>
                  <a:srgbClr val="6A7383"/>
                </a:solidFill>
                <a:latin typeface="Calibri" pitchFamily="34" charset="0"/>
                <a:ea typeface="Calibri" pitchFamily="34" charset="-122"/>
                <a:cs typeface="Calibri" pitchFamily="34" charset="-120"/>
              </a:rPr>
              <a:t>Limitations: data ends in 2014; limits and signal levels are example settings, chosen with hindsight.</a:t>
            </a:r>
            <a:endParaRPr lang="en-US" sz="11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A7383"/>
                </a:solidFill>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Credit Review">
  <a:themeElements>
    <a:clrScheme name="Credit Review">
      <a:dk1>
        <a:srgbClr val="3E4A5C"/>
      </a:dk1>
      <a:lt1>
        <a:srgbClr val="FFFFFF"/>
      </a:lt1>
      <a:dk2>
        <a:srgbClr val="14213D"/>
      </a:dk2>
      <a:lt2>
        <a:srgbClr val="FBFAF6"/>
      </a:lt2>
      <a:accent1>
        <a:srgbClr val="4A6FA5"/>
      </a:accent1>
      <a:accent2>
        <a:srgbClr val="D9622B"/>
      </a:accent2>
      <a:accent3>
        <a:srgbClr val="B5461B"/>
      </a:accent3>
      <a:accent4>
        <a:srgbClr val="7A5F12"/>
      </a:accent4>
      <a:accent5>
        <a:srgbClr val="B9C3D3"/>
      </a:accent5>
      <a:accent6>
        <a:srgbClr val="E8894A"/>
      </a:accent6>
      <a:hlink>
        <a:srgbClr val="4A6FA5"/>
      </a:hlink>
      <a:folHlink>
        <a:srgbClr val="6A7383"/>
      </a:folHlink>
    </a:clrScheme>
    <a:fontScheme name="Credit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SBA Loan Portfolio Risk Review</dc:title>
  <dc:subject>PptxGenJS Presentation</dc:subject>
  <dc:creator>Bernard Frimpong</dc:creator>
  <cp:lastModifiedBy>Bernard Frimpong</cp:lastModifiedBy>
  <cp:revision>1</cp:revision>
  <dcterms:created xsi:type="dcterms:W3CDTF">2026-10-17T11:27:00Z</dcterms:created>
  <dcterms:modified xsi:type="dcterms:W3CDTF">2026-10-17T11:27:00Z</dcterms:modified>
</cp:coreProperties>
</file>